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333333"/>
                </a:solidFill>
                <a:latin typeface="微软雅黑"/>
              </a:defRPr>
            </a:pPr>
            <a:r>
              <a:t>我们的现状与核心挑战</a:t>
            </a:r>
          </a:p>
          <a:p>
            <a:pPr algn="l">
              <a:spcBef>
                <a:spcPts val="2000"/>
              </a:spcBef>
              <a:defRPr sz="2800">
                <a:solidFill>
                  <a:srgbClr val="666666"/>
                </a:solidFill>
                <a:latin typeface="微软雅黑"/>
              </a:defRPr>
            </a:pPr>
            <a:r>
              <a:t>中石油勘探院油气开采研究所数字化转型调研</a:t>
            </a:r>
          </a:p>
        </p:txBody>
      </p:sp>
      <p:sp>
        <p:nvSpPr>
          <p:cNvPr id="4" name="Isosceles Triangle 3"/>
          <p:cNvSpPr/>
          <p:nvPr/>
        </p:nvSpPr>
        <p:spPr>
          <a:xfrm rot="2700000">
            <a:off x="9601200" y="4114800"/>
            <a:ext cx="1828800" cy="1828800"/>
          </a:xfrm>
          <a:prstGeom prst="triangl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800000">
            <a:off x="10972800" y="4754880"/>
            <a:ext cx="731520" cy="731520"/>
          </a:xfrm>
          <a:prstGeom prst="triangl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33333"/>
                </a:solidFill>
                <a:latin typeface="微软雅黑"/>
              </a:defRPr>
            </a:pPr>
            <a:r>
              <a:t>科研侧挑战：知识断层与效率瓶颈</a:t>
            </a:r>
          </a:p>
        </p:txBody>
      </p:sp>
      <p:sp>
        <p:nvSpPr>
          <p:cNvPr id="5" name="Isosceles Triangle 4"/>
          <p:cNvSpPr/>
          <p:nvPr/>
        </p:nvSpPr>
        <p:spPr>
          <a:xfrm rot="2700000">
            <a:off x="9601200" y="4114800"/>
            <a:ext cx="1828800" cy="1828800"/>
          </a:xfrm>
          <a:prstGeom prst="triangl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 rot="1800000">
            <a:off x="10972800" y="4754880"/>
            <a:ext cx="731520" cy="731520"/>
          </a:xfrm>
          <a:prstGeom prst="triangl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  <a:latin typeface="微软雅黑"/>
              </a:defRPr>
            </a:pPr>
            <a:r>
              <a:t>专家经验传承断层——"人走茶凉"的隐忧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【核心矛盾】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60-70年代参加工作的老专家集中退休，数十年现场经验与"手感"难以显性化留存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【具体表现】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地质解释、油气层识别等高度依赖专家直觉的判断缺乏标准化记录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年轻工程师面临陡峭的学习曲线，培养周期长达5-8年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同类问题反复摸索，重复"交学费"现象普遍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【业务影响】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关键岗位人才断档风险加剧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重大技术决策质量波动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院内知识资产流失，难以形成持续积累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【数据佐证】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据行业调研，约40%的石油企业存在核心技术骨干断层风险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  <a:latin typeface="微软雅黑"/>
              </a:defRPr>
            </a:pPr>
            <a:r>
              <a:t>文献情报处理低效——"淹没在数据里"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【现状描述】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年均新增勘探开发相关论文数万篇、专利数千件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行业标准规范持续更新，国际前沿技术快速迭代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【痛点分析】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研究人员日均花费2-3小时在文献检索与阅读上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跨语种、跨专业的信息整合困难，知识孤岛现象严重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历史研究成果检索困难，"不知道院里有人做过类似工作"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【深层问题】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缺乏统一的领域知识图谱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专家经验无法结构化沉淀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文献与生产数据割裂，难以形成闭环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【数据佐证】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据内部调研，约35%的科研人员认为"信息过载"是制约创新效率的首要因素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33333"/>
                </a:solidFill>
                <a:latin typeface="微软雅黑"/>
              </a:defRPr>
            </a:pPr>
            <a:r>
              <a:t>开采侧挑战：地下黑盒与决策滞后</a:t>
            </a:r>
          </a:p>
        </p:txBody>
      </p:sp>
      <p:sp>
        <p:nvSpPr>
          <p:cNvPr id="5" name="Isosceles Triangle 4"/>
          <p:cNvSpPr/>
          <p:nvPr/>
        </p:nvSpPr>
        <p:spPr>
          <a:xfrm rot="2700000">
            <a:off x="9601200" y="4114800"/>
            <a:ext cx="1828800" cy="1828800"/>
          </a:xfrm>
          <a:prstGeom prst="triangl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 rot="1800000">
            <a:off x="10972800" y="4754880"/>
            <a:ext cx="731520" cy="731520"/>
          </a:xfrm>
          <a:prstGeom prst="triangl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  <a:latin typeface="微软雅黑"/>
              </a:defRPr>
            </a:pPr>
            <a:r>
              <a:t>深层地质条件复杂——"看得见摸不着"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【技术背景】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深层超深层（&gt;6000m）、深水超深水、非常规油气成为勘探开发主战场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中石油勘探院正面临"一老、两深、一非"的技术攻关压力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【核心难题】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地下构造复杂，地震资料解释多解性强，储层预测符合率仅65-75%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钻井过程中地层不确定性高，井壁失稳、井漏、井喷等风险频发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压裂效果难以预测，单井成本动辄数千万甚至上亿元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【典型场景】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万米级超深井：井底温度&gt;200°C，压力&gt;200MPa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致密气/页岩气：压裂裂缝网络复杂，返排规律难以预测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老油田：储层物性变化大，剩余油分布认识不清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【行业对标】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与国际油服公司相比，复杂井况下的钻井成功率仍有5-10个百分点差距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  <a:latin typeface="微软雅黑"/>
              </a:defRPr>
            </a:pPr>
            <a:r>
              <a:t>传统数模计算周期长——"算得准等不起"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【现状分析】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油藏数值模拟是开发方案设计的核心工具，但传统工作流存在明显短板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【瓶颈环节】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地质建模到数值模拟的衔接依赖人工干预，数据准备耗时数周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单次全油藏精细模拟计算周期长达数天甚至数周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"方案设计-模拟验证-优化调整"迭代缓慢，难以支撑敏捷决策需求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【业务后果】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错过最佳投产时机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在信息不充分情况下"带病"决策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增加开发风险与成本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【典型案例】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大庆油田：老井措施方案优化需跨科室协作，审批周期长达2-3周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苏里格气田：致密气井生产制度调整滞后于地层压力变化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33333"/>
                </a:solidFill>
                <a:latin typeface="微软雅黑"/>
              </a:defRPr>
            </a:pPr>
            <a:r>
              <a:t>挑战总结与数字化转型方向</a:t>
            </a:r>
          </a:p>
        </p:txBody>
      </p:sp>
      <p:sp>
        <p:nvSpPr>
          <p:cNvPr id="5" name="Isosceles Triangle 4"/>
          <p:cNvSpPr/>
          <p:nvPr/>
        </p:nvSpPr>
        <p:spPr>
          <a:xfrm rot="2700000">
            <a:off x="9601200" y="4114800"/>
            <a:ext cx="1828800" cy="1828800"/>
          </a:xfrm>
          <a:prstGeom prst="triangl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 rot="1800000">
            <a:off x="10972800" y="4754880"/>
            <a:ext cx="731520" cy="731520"/>
          </a:xfrm>
          <a:prstGeom prst="triangl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  <a:latin typeface="微软雅黑"/>
              </a:defRPr>
            </a:pPr>
            <a:r>
              <a:t>现状挑战汇总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【科研侧：知识断层与效率瓶颈】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■ 专家经验传承断层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老专家退休，经验难以显性化留存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年轻工程师培养周期长，重复交学费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■ 文献情报处理低效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日均2-3小时文献检索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跨专业信息整合困难，知识孤岛严重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【开采侧：地下黑盒与决策滞后】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■ 深层地质条件复杂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储层预测符合率仅65-75%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钻井风险高，单井成本数千万至上亿元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■ 传统数模计算周期长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数据准备耗时数周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精细模拟周期长达数天至数周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方案迭代慢，难以支撑敏捷决策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  <a:latin typeface="微软雅黑"/>
              </a:defRPr>
            </a:pPr>
            <a:r>
              <a:t>数字化转型方向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【总体思路】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构建"数据-算法-业务"三元耦合的认知框架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从经验驱动向数据驱动转变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【科研侧转型路径】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▎领域知识图谱构建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结构化沉淀专家经验与历史文献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实现跨专业知识的智能检索与关联推荐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▎智能文献助手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AI驱动的文献自动摘要与知识抽取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多语言文献自动翻译与信息整合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【开采侧转型路径】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▎实时数模与AI加速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基于机器学习的快速代理模型替代传统数值模拟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实现分钟级的方案评估与优化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▎数字孪生与智能预警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构建油气藏-井筒-地面全流程数字孪生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钻井风险、井筒故障的提前预警与智能处置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  <a:latin typeface="微软雅黑"/>
              </a:defRPr>
            </a:pPr>
            <a:r>
              <a:t>预期成效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【科研侧预期成效】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专家经验传承：知识图谱覆盖80%以上核心业务领域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文献检索效率：AI辅助下检索时间降低70%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新人培养周期：从5-8年缩短至3-5年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【开采侧预期成效】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储层预测符合率：从65-75%提升至80-85%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数模计算周期：从数周缩短至数小时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钻井事故率：降低30-50%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单井开发成本：降低10-15%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【综合效益】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研发效率提升30-40%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决策响应速度提升5-10倍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为中石油勘探院打造"数字中国石油"的标杆示范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333333"/>
                </a:solidFill>
                <a:latin typeface="微软雅黑"/>
              </a:defRPr>
            </a:pPr>
            <a:r>
              <a:t>谢谢</a:t>
            </a:r>
          </a:p>
          <a:p>
            <a:pPr algn="l">
              <a:spcBef>
                <a:spcPts val="2000"/>
              </a:spcBef>
              <a:defRPr sz="2800">
                <a:solidFill>
                  <a:srgbClr val="666666"/>
                </a:solidFill>
                <a:latin typeface="微软雅黑"/>
              </a:defRPr>
            </a:pPr>
            <a:r>
              <a:t>携手共建智能化油气开采新篇章</a:t>
            </a:r>
          </a:p>
        </p:txBody>
      </p:sp>
      <p:sp>
        <p:nvSpPr>
          <p:cNvPr id="4" name="Isosceles Triangle 3"/>
          <p:cNvSpPr/>
          <p:nvPr/>
        </p:nvSpPr>
        <p:spPr>
          <a:xfrm rot="2700000">
            <a:off x="9601200" y="4114800"/>
            <a:ext cx="1828800" cy="1828800"/>
          </a:xfrm>
          <a:prstGeom prst="triangl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800000">
            <a:off x="10972800" y="4754880"/>
            <a:ext cx="731520" cy="731520"/>
          </a:xfrm>
          <a:prstGeom prst="triangl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