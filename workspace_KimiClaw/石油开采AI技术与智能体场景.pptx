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石油开采领域AI技术应用</a:t>
            </a:r>
            <a:br/>
            <a:r>
              <a:t>与智能体场景全景</a:t>
            </a:r>
          </a:p>
          <a:p>
            <a:pPr algn="ctr">
              <a:defRPr sz="2200">
                <a:solidFill>
                  <a:srgbClr val="666666"/>
                </a:solidFill>
              </a:defRPr>
            </a:pPr>
            <a:r>
              <a:t>最新技术趋势与落地实践案例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一、智能钻井技术 - AI驱动的钻井革命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【1.1 智能钻井轨迹优化】</a:t>
            </a:r>
          </a:p>
          <a:p>
            <a:pPr>
              <a:spcAft>
                <a:spcPts val="800"/>
              </a:spcAft>
              <a:defRPr sz="1700"/>
            </a:pPr>
            <a:r>
              <a:t>• AI系统实时分析地质数据，预测最佳钻井路径，优化钻井参数</a:t>
            </a:r>
          </a:p>
          <a:p>
            <a:pPr>
              <a:spcAft>
                <a:spcPts val="800"/>
              </a:spcAft>
              <a:defRPr sz="1700"/>
            </a:pPr>
            <a:r>
              <a:t>• 案例：中石化川南页岩气田AI智能钻井系统，钻井效率提升18%</a:t>
            </a:r>
          </a:p>
          <a:p>
            <a:pPr>
              <a:spcAft>
                <a:spcPts val="800"/>
              </a:spcAft>
              <a:defRPr sz="1700"/>
            </a:pPr>
            <a:r>
              <a:t>• 案例：胜利油田顺北油气田应用AI优化钻井轨迹设计，钻井周期缩短20%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【1.2 钻井风险智能预警】</a:t>
            </a:r>
          </a:p>
          <a:p>
            <a:pPr>
              <a:spcAft>
                <a:spcPts val="800"/>
              </a:spcAft>
              <a:defRPr sz="1700"/>
            </a:pPr>
            <a:r>
              <a:t>• 建立钻井复杂故障样本库，运用AI算法构建风险提示模型</a:t>
            </a:r>
          </a:p>
          <a:p>
            <a:pPr>
              <a:spcAft>
                <a:spcPts val="800"/>
              </a:spcAft>
              <a:defRPr sz="1700"/>
            </a:pPr>
            <a:r>
              <a:t>• 智能计算新井轨迹与钻井复杂事件的空间距离，自动生成风险提示清单</a:t>
            </a:r>
          </a:p>
          <a:p>
            <a:pPr>
              <a:spcAft>
                <a:spcPts val="800"/>
              </a:spcAft>
              <a:defRPr sz="1700"/>
            </a:pPr>
            <a:r>
              <a:t>• 井涌预测模型精度达90%以上，为井下作业安全提供保障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【1.3 数字孪生钻井】</a:t>
            </a:r>
          </a:p>
          <a:p>
            <a:pPr>
              <a:spcAft>
                <a:spcPts val="800"/>
              </a:spcAft>
              <a:defRPr sz="1700"/>
            </a:pPr>
            <a:r>
              <a:t>• 构建虚拟钻井模型，实时映射井下作业进度</a:t>
            </a:r>
          </a:p>
          <a:p>
            <a:pPr>
              <a:spcAft>
                <a:spcPts val="800"/>
              </a:spcAft>
              <a:defRPr sz="1700"/>
            </a:pPr>
            <a:r>
              <a:t>• 模拟不同地质条件下的钻井参数优化</a:t>
            </a:r>
          </a:p>
          <a:p>
            <a:pPr>
              <a:spcAft>
                <a:spcPts val="800"/>
              </a:spcAft>
              <a:defRPr sz="1700"/>
            </a:pPr>
            <a:r>
              <a:t>• 壳牌数字孪生模拟精度超90%，钻井成功率提升20%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二、智能完井与压裂优化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【2.1 智能压裂参数优化】</a:t>
            </a:r>
          </a:p>
          <a:p>
            <a:pPr>
              <a:spcAft>
                <a:spcPts val="800"/>
              </a:spcAft>
              <a:defRPr sz="1700"/>
            </a:pPr>
            <a:r>
              <a:t>• 通过机器学习动态调整施工参数，综合考虑天然裂缝、地应力等参数</a:t>
            </a:r>
          </a:p>
          <a:p>
            <a:pPr>
              <a:spcAft>
                <a:spcPts val="800"/>
              </a:spcAft>
              <a:defRPr sz="1700"/>
            </a:pPr>
            <a:r>
              <a:t>• 实现裂缝扩展实时展布，模拟精度达80%以上</a:t>
            </a:r>
          </a:p>
          <a:p>
            <a:pPr>
              <a:spcAft>
                <a:spcPts val="800"/>
              </a:spcAft>
              <a:defRPr sz="1700"/>
            </a:pPr>
            <a:r>
              <a:t>• 案例：涪陵页岩气田AI压裂优化系统，压裂效率提升15%，成本降低10%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【2.2 智能完井监测】</a:t>
            </a:r>
          </a:p>
          <a:p>
            <a:pPr>
              <a:spcAft>
                <a:spcPts val="800"/>
              </a:spcAft>
              <a:defRPr sz="1700"/>
            </a:pPr>
            <a:r>
              <a:t>• 实时监测和调整完井参数，优化油气层产能</a:t>
            </a:r>
          </a:p>
          <a:p>
            <a:pPr>
              <a:spcAft>
                <a:spcPts val="800"/>
              </a:spcAft>
              <a:defRPr sz="1700"/>
            </a:pPr>
            <a:r>
              <a:t>• 酸化压裂技术和人工举升技术应用，单井产量提高30%以上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【2.3 生产参数智能调控】</a:t>
            </a:r>
          </a:p>
          <a:p>
            <a:pPr>
              <a:spcAft>
                <a:spcPts val="800"/>
              </a:spcAft>
              <a:defRPr sz="1700"/>
            </a:pPr>
            <a:r>
              <a:t>• 基于强化学习实时调整生产参数（注水、采油速度、设备运行参数等）</a:t>
            </a:r>
          </a:p>
          <a:p>
            <a:pPr>
              <a:spcAft>
                <a:spcPts val="800"/>
              </a:spcAft>
              <a:defRPr sz="1700"/>
            </a:pPr>
            <a:r>
              <a:t>• 实现产量最大化、采收率提高和能耗降低</a:t>
            </a:r>
          </a:p>
          <a:p>
            <a:pPr>
              <a:spcAft>
                <a:spcPts val="800"/>
              </a:spcAft>
              <a:defRPr sz="1700"/>
            </a:pPr>
            <a:r>
              <a:t>• AI智能体根据油藏动态和生产目标，自动优化生产策略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三、设备预测性维护与智能巡检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【3.1 AI预测性维护】</a:t>
            </a:r>
          </a:p>
          <a:p>
            <a:pPr>
              <a:spcAft>
                <a:spcPts val="800"/>
              </a:spcAft>
              <a:defRPr sz="1700"/>
            </a:pPr>
            <a:r>
              <a:t>• 实时监测设备运行数据（振动、温度、压力等），利用机器学习预测故障</a:t>
            </a:r>
          </a:p>
          <a:p>
            <a:pPr>
              <a:spcAft>
                <a:spcPts val="800"/>
              </a:spcAft>
              <a:defRPr sz="1700"/>
            </a:pPr>
            <a:r>
              <a:t>• 案例：挪威国家石油采用机器学习设备维护方案，年节省成本约3000万美元</a:t>
            </a:r>
          </a:p>
          <a:p>
            <a:pPr>
              <a:spcAft>
                <a:spcPts val="800"/>
              </a:spcAft>
              <a:defRPr sz="1700"/>
            </a:pPr>
            <a:r>
              <a:t>• 案例：华北管网和普光气田AI预测性维护，故障提前7-14天预警，非计划停机减少30%+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【3.2 智能巡检体系】</a:t>
            </a:r>
          </a:p>
          <a:p>
            <a:pPr>
              <a:spcAft>
                <a:spcPts val="800"/>
              </a:spcAft>
              <a:defRPr sz="1700"/>
            </a:pPr>
            <a:r>
              <a:t>• 无人机巡检：机动性强、成本低，结合高清摄像头、热红外成像发现异常</a:t>
            </a:r>
          </a:p>
          <a:p>
            <a:pPr>
              <a:spcAft>
                <a:spcPts val="800"/>
              </a:spcAft>
              <a:defRPr sz="1700"/>
            </a:pPr>
            <a:r>
              <a:t>• 机器人巡检：沙特阿美2018年实现全球首次海上平台四足机器人巡检</a:t>
            </a:r>
          </a:p>
          <a:p>
            <a:pPr>
              <a:spcAft>
                <a:spcPts val="800"/>
              </a:spcAft>
              <a:defRPr sz="1700"/>
            </a:pPr>
            <a:r>
              <a:t>• 立体巡检：涪陵页岩气田融合无人机、视频AI、人工巡检，打造全息感知模式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【3.3 设备健康管理】</a:t>
            </a:r>
          </a:p>
          <a:p>
            <a:pPr>
              <a:spcAft>
                <a:spcPts val="800"/>
              </a:spcAft>
              <a:defRPr sz="1700"/>
            </a:pPr>
            <a:r>
              <a:t>• 构建设备健康管理中心，整合智能模块实现全方位预警</a:t>
            </a:r>
          </a:p>
          <a:p>
            <a:pPr>
              <a:spcAft>
                <a:spcPts val="800"/>
              </a:spcAft>
              <a:defRPr sz="1700"/>
            </a:pPr>
            <a:r>
              <a:t>• ABB Ability平台接入300个钻井平台实时数据，预测性维护降低非计划停机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四、油藏智能管理与生产优化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【4.1 油藏数字孪生】</a:t>
            </a:r>
          </a:p>
          <a:p>
            <a:pPr>
              <a:spcAft>
                <a:spcPts val="800"/>
              </a:spcAft>
              <a:defRPr sz="1700"/>
            </a:pPr>
            <a:r>
              <a:t>• 构建高精度油藏数字孪生模型，实现油藏动态实时监测和模拟</a:t>
            </a:r>
          </a:p>
          <a:p>
            <a:pPr>
              <a:spcAft>
                <a:spcPts val="800"/>
              </a:spcAft>
              <a:defRPr sz="1700"/>
            </a:pPr>
            <a:r>
              <a:t>• 数据同化技术将实际监测数据融入模型，不断修正提高精度</a:t>
            </a:r>
          </a:p>
          <a:p>
            <a:pPr>
              <a:spcAft>
                <a:spcPts val="800"/>
              </a:spcAft>
              <a:defRPr sz="1700"/>
            </a:pPr>
            <a:r>
              <a:t>• 案例：胜利油田发布油气勘探开发认知大模型'胜小利'，支撑页岩油研究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【4.2 智能生产优化】</a:t>
            </a:r>
          </a:p>
          <a:p>
            <a:pPr>
              <a:spcAft>
                <a:spcPts val="800"/>
              </a:spcAft>
              <a:defRPr sz="1700"/>
            </a:pPr>
            <a:r>
              <a:t>• 利用强化学习和实时数据分析，自动调整生产参数</a:t>
            </a:r>
          </a:p>
          <a:p>
            <a:pPr>
              <a:spcAft>
                <a:spcPts val="800"/>
              </a:spcAft>
              <a:defRPr sz="1700"/>
            </a:pPr>
            <a:r>
              <a:t>• 边缘计算RTU集成卷积神经网络，实现单井功图实时诊断</a:t>
            </a:r>
          </a:p>
          <a:p>
            <a:pPr>
              <a:spcAft>
                <a:spcPts val="800"/>
              </a:spcAft>
              <a:defRPr sz="1700"/>
            </a:pPr>
            <a:r>
              <a:t>• 案例：长庆油田液量计量准确率95%以上，减少云端数据传输量80%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【4.3 生产调度智能决策】</a:t>
            </a:r>
          </a:p>
          <a:p>
            <a:pPr>
              <a:spcAft>
                <a:spcPts val="800"/>
              </a:spcAft>
              <a:defRPr sz="1700"/>
            </a:pPr>
            <a:r>
              <a:t>• 整合产量、库存、运输等数据，通过优化算法实现智能调度</a:t>
            </a:r>
          </a:p>
          <a:p>
            <a:pPr>
              <a:spcAft>
                <a:spcPts val="800"/>
              </a:spcAft>
              <a:defRPr sz="1700"/>
            </a:pPr>
            <a:r>
              <a:t>• 根据市场需求、设备状态和生产目标，合理安排生产计划</a:t>
            </a:r>
          </a:p>
          <a:p>
            <a:pPr>
              <a:spcAft>
                <a:spcPts val="800"/>
              </a:spcAft>
              <a:defRPr sz="1700"/>
            </a:pPr>
            <a:r>
              <a:t>• 中石油规划总院构建原油产业链一体化优化模型，提升产业链韧性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五、智能安全监控与应急管理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【5.1 视频智能识别】</a:t>
            </a:r>
          </a:p>
          <a:p>
            <a:pPr>
              <a:spcAft>
                <a:spcPts val="800"/>
              </a:spcAft>
              <a:defRPr sz="1700"/>
            </a:pPr>
            <a:r>
              <a:t>• 利用图像识别技术监测生产现场安全隐患（火灾、泄漏、人员违规操作等）</a:t>
            </a:r>
          </a:p>
          <a:p>
            <a:pPr>
              <a:spcAft>
                <a:spcPts val="800"/>
              </a:spcAft>
              <a:defRPr sz="1700"/>
            </a:pPr>
            <a:r>
              <a:t>• 案例：江汉油田视频违章智能识别，11种作业场景风险识别准确率85%+</a:t>
            </a:r>
          </a:p>
          <a:p>
            <a:pPr>
              <a:spcAft>
                <a:spcPts val="800"/>
              </a:spcAft>
              <a:defRPr sz="1700"/>
            </a:pPr>
            <a:r>
              <a:t>• 督察效率提升超50%，算法违章漏检率降低至10%以下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【5.2 实时风险预警】</a:t>
            </a:r>
          </a:p>
          <a:p>
            <a:pPr>
              <a:spcAft>
                <a:spcPts val="800"/>
              </a:spcAft>
              <a:defRPr sz="1700"/>
            </a:pPr>
            <a:r>
              <a:t>• 通过传感器数据实时监测危险气体浓度、压力等参数</a:t>
            </a:r>
          </a:p>
          <a:p>
            <a:pPr>
              <a:spcAft>
                <a:spcPts val="800"/>
              </a:spcAft>
              <a:defRPr sz="1700"/>
            </a:pPr>
            <a:r>
              <a:t>• 一旦发现异常，智能体迅速启动应急预案，自动采取控制措施</a:t>
            </a:r>
          </a:p>
          <a:p>
            <a:pPr>
              <a:spcAft>
                <a:spcPts val="800"/>
              </a:spcAft>
              <a:defRPr sz="1700"/>
            </a:pPr>
            <a:r>
              <a:t>• 西南油气田数字孪生平台，故障电弧定位精度98%，预警时间提前72小时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【5.3 应急响应智能体】</a:t>
            </a:r>
          </a:p>
          <a:p>
            <a:pPr>
              <a:spcAft>
                <a:spcPts val="800"/>
              </a:spcAft>
              <a:defRPr sz="1700"/>
            </a:pPr>
            <a:r>
              <a:t>• 跨区域紧急事件协同：总部、省区、地市三级运维团队高效协同</a:t>
            </a:r>
          </a:p>
          <a:p>
            <a:pPr>
              <a:spcAft>
                <a:spcPts val="800"/>
              </a:spcAft>
              <a:defRPr sz="1700"/>
            </a:pPr>
            <a:r>
              <a:t>• 系统诊断智能体迅速识别问题影响范围，协调最优资源配置</a:t>
            </a:r>
          </a:p>
          <a:p>
            <a:pPr>
              <a:spcAft>
                <a:spcPts val="800"/>
              </a:spcAft>
              <a:defRPr sz="1700"/>
            </a:pPr>
            <a:r>
              <a:t>• 提前配置修复资源，将应对策略发送至运维团队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第二部分</a:t>
            </a:r>
          </a:p>
          <a:p>
            <a:pPr algn="ctr">
              <a:defRPr sz="2200">
                <a:solidFill>
                  <a:srgbClr val="666666"/>
                </a:solidFill>
              </a:defRPr>
            </a:pPr>
            <a:r>
              <a:t>油气开采智能体（Agent）场景全景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智能体一：钻井优化智能体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【核心能力】</a:t>
            </a:r>
          </a:p>
          <a:p>
            <a:pPr>
              <a:spcAft>
                <a:spcPts val="800"/>
              </a:spcAft>
              <a:defRPr sz="1700"/>
            </a:pPr>
            <a:r>
              <a:t>• 地质数据实时分析：处理随钻测井数据、地质导向数据</a:t>
            </a:r>
          </a:p>
          <a:p>
            <a:pPr>
              <a:spcAft>
                <a:spcPts val="800"/>
              </a:spcAft>
              <a:defRPr sz="1700"/>
            </a:pPr>
            <a:r>
              <a:t>• 轨迹动态优化：基于地质变化实时调整钻井轨迹</a:t>
            </a:r>
          </a:p>
          <a:p>
            <a:pPr>
              <a:spcAft>
                <a:spcPts val="800"/>
              </a:spcAft>
              <a:defRPr sz="1700"/>
            </a:pPr>
            <a:r>
              <a:t>• 风险预测预警：卡钻、井涌、漏失等风险提前预警</a:t>
            </a:r>
          </a:p>
          <a:p>
            <a:pPr>
              <a:spcAft>
                <a:spcPts val="800"/>
              </a:spcAft>
              <a:defRPr sz="1700"/>
            </a:pPr>
            <a:r>
              <a:t>• 参数自动调控：钻压、转速、排量等参数智能优化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【应用场景】</a:t>
            </a:r>
          </a:p>
          <a:p>
            <a:pPr>
              <a:spcAft>
                <a:spcPts val="800"/>
              </a:spcAft>
              <a:defRPr sz="1700"/>
            </a:pPr>
            <a:r>
              <a:t>场景1：复杂地质条件钻井 → 自动识别地层变化，推荐最优钻具组合</a:t>
            </a:r>
          </a:p>
          <a:p>
            <a:pPr>
              <a:spcAft>
                <a:spcPts val="800"/>
              </a:spcAft>
              <a:defRPr sz="1700"/>
            </a:pPr>
            <a:r>
              <a:t>场景2：水平井着陆控制 → 精准控制入靶点，提高优质储层钻遇率</a:t>
            </a:r>
          </a:p>
          <a:p>
            <a:pPr>
              <a:spcAft>
                <a:spcPts val="800"/>
              </a:spcAft>
              <a:defRPr sz="1700"/>
            </a:pPr>
            <a:r>
              <a:t>场景3：钻井成本控制 → 实时计算钻井成本，优化施工方案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【价值成效】</a:t>
            </a:r>
          </a:p>
          <a:p>
            <a:pPr>
              <a:spcAft>
                <a:spcPts val="800"/>
              </a:spcAft>
              <a:defRPr sz="1700"/>
            </a:pPr>
            <a:r>
              <a:t>✓ 钻井效率提升15-20%</a:t>
            </a:r>
          </a:p>
          <a:p>
            <a:pPr>
              <a:spcAft>
                <a:spcPts val="800"/>
              </a:spcAft>
              <a:defRPr sz="1700"/>
            </a:pPr>
            <a:r>
              <a:t>✓ 钻井事故减少30%</a:t>
            </a:r>
          </a:p>
          <a:p>
            <a:pPr>
              <a:spcAft>
                <a:spcPts val="800"/>
              </a:spcAft>
              <a:defRPr sz="1700"/>
            </a:pPr>
            <a:r>
              <a:t>✓ 单井成本降低10-15%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智能体二：压裂施工智能体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【核心能力】</a:t>
            </a:r>
          </a:p>
          <a:p>
            <a:pPr>
              <a:spcAft>
                <a:spcPts val="800"/>
              </a:spcAft>
              <a:defRPr sz="1700"/>
            </a:pPr>
            <a:r>
              <a:t>• 地质工程一体化分析：整合地质、测井、地震多源数据</a:t>
            </a:r>
          </a:p>
          <a:p>
            <a:pPr>
              <a:spcAft>
                <a:spcPts val="800"/>
              </a:spcAft>
              <a:defRPr sz="1700"/>
            </a:pPr>
            <a:r>
              <a:t>• 压裂参数实时优化：砂比、液量、压力等参数动态调整</a:t>
            </a:r>
          </a:p>
          <a:p>
            <a:pPr>
              <a:spcAft>
                <a:spcPts val="800"/>
              </a:spcAft>
              <a:defRPr sz="1700"/>
            </a:pPr>
            <a:r>
              <a:t>• 裂缝扩展模拟：实时模拟裂缝展布，优化段簇设计</a:t>
            </a:r>
          </a:p>
          <a:p>
            <a:pPr>
              <a:spcAft>
                <a:spcPts val="800"/>
              </a:spcAft>
              <a:defRPr sz="1700"/>
            </a:pPr>
            <a:r>
              <a:t>• 施工质量智能评价：自动评价压裂效果，推荐改进方案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【应用场景】</a:t>
            </a:r>
          </a:p>
          <a:p>
            <a:pPr>
              <a:spcAft>
                <a:spcPts val="800"/>
              </a:spcAft>
              <a:defRPr sz="1700"/>
            </a:pPr>
            <a:r>
              <a:t>场景1：页岩气压裂设计 → 自动生成最优压裂方案，提高EUR</a:t>
            </a:r>
          </a:p>
          <a:p>
            <a:pPr>
              <a:spcAft>
                <a:spcPts val="800"/>
              </a:spcAft>
              <a:defRPr sz="1700"/>
            </a:pPr>
            <a:r>
              <a:t>场景2：实时施工监控 → 异常自动预警，防止砂堵等事故</a:t>
            </a:r>
          </a:p>
          <a:p>
            <a:pPr>
              <a:spcAft>
                <a:spcPts val="800"/>
              </a:spcAft>
              <a:defRPr sz="1700"/>
            </a:pPr>
            <a:r>
              <a:t>场景3：压后效果评估 → 微地震数据智能解释，评价裂缝网络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【价值成效】</a:t>
            </a:r>
          </a:p>
          <a:p>
            <a:pPr>
              <a:spcAft>
                <a:spcPts val="800"/>
              </a:spcAft>
              <a:defRPr sz="1700"/>
            </a:pPr>
            <a:r>
              <a:t>✓ 压裂效率提升15%</a:t>
            </a:r>
          </a:p>
          <a:p>
            <a:pPr>
              <a:spcAft>
                <a:spcPts val="800"/>
              </a:spcAft>
              <a:defRPr sz="1700"/>
            </a:pPr>
            <a:r>
              <a:t>✓ 单井产量提高12%</a:t>
            </a:r>
          </a:p>
          <a:p>
            <a:pPr>
              <a:spcAft>
                <a:spcPts val="800"/>
              </a:spcAft>
              <a:defRPr sz="1700"/>
            </a:pPr>
            <a:r>
              <a:t>✓ 压裂成本降低10%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智能体三：设备健康管理智能体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【核心能力】</a:t>
            </a:r>
          </a:p>
          <a:p>
            <a:pPr>
              <a:spcAft>
                <a:spcPts val="800"/>
              </a:spcAft>
              <a:defRPr sz="1700"/>
            </a:pPr>
            <a:r>
              <a:t>• 多源数据融合：振动、温度、电流、压力等传感器数据整合</a:t>
            </a:r>
          </a:p>
          <a:p>
            <a:pPr>
              <a:spcAft>
                <a:spcPts val="800"/>
              </a:spcAft>
              <a:defRPr sz="1700"/>
            </a:pPr>
            <a:r>
              <a:t>• 故障模式识别：基于深度学习的故障诊断算法</a:t>
            </a:r>
          </a:p>
          <a:p>
            <a:pPr>
              <a:spcAft>
                <a:spcPts val="800"/>
              </a:spcAft>
              <a:defRPr sz="1700"/>
            </a:pPr>
            <a:r>
              <a:t>• 剩余寿命预测：RUL预测模型，提前规划维护计划</a:t>
            </a:r>
          </a:p>
          <a:p>
            <a:pPr>
              <a:spcAft>
                <a:spcPts val="800"/>
              </a:spcAft>
              <a:defRPr sz="1700"/>
            </a:pPr>
            <a:r>
              <a:t>• 备件智能管理：预测备件需求，优化库存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【应用场景】</a:t>
            </a:r>
          </a:p>
          <a:p>
            <a:pPr>
              <a:spcAft>
                <a:spcPts val="800"/>
              </a:spcAft>
              <a:defRPr sz="1700"/>
            </a:pPr>
            <a:r>
              <a:t>场景1：旋转设备监测 → 泵、压缩机、电机等关键设备健康监测</a:t>
            </a:r>
          </a:p>
          <a:p>
            <a:pPr>
              <a:spcAft>
                <a:spcPts val="800"/>
              </a:spcAft>
              <a:defRPr sz="1700"/>
            </a:pPr>
            <a:r>
              <a:t>场景2：管网泄漏检测 → 压力波分析+AI识别，快速定位泄漏点</a:t>
            </a:r>
          </a:p>
          <a:p>
            <a:pPr>
              <a:spcAft>
                <a:spcPts val="800"/>
              </a:spcAft>
              <a:defRPr sz="1700"/>
            </a:pPr>
            <a:r>
              <a:t>场景3：电气设备预警 → 变压器、变频器故障早期预警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【价值成效】</a:t>
            </a:r>
          </a:p>
          <a:p>
            <a:pPr>
              <a:spcAft>
                <a:spcPts val="800"/>
              </a:spcAft>
              <a:defRPr sz="1700"/>
            </a:pPr>
            <a:r>
              <a:t>✓ 设备故障率下降28%</a:t>
            </a:r>
          </a:p>
          <a:p>
            <a:pPr>
              <a:spcAft>
                <a:spcPts val="800"/>
              </a:spcAft>
              <a:defRPr sz="1700"/>
            </a:pPr>
            <a:r>
              <a:t>✓ 维护成本降低22%</a:t>
            </a:r>
          </a:p>
          <a:p>
            <a:pPr>
              <a:spcAft>
                <a:spcPts val="800"/>
              </a:spcAft>
              <a:defRPr sz="1700"/>
            </a:pPr>
            <a:r>
              <a:t>✓ 非计划停机减少30%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智能体四：生产优化智能体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【核心能力】</a:t>
            </a:r>
          </a:p>
          <a:p>
            <a:pPr>
              <a:spcAft>
                <a:spcPts val="800"/>
              </a:spcAft>
              <a:defRPr sz="1700"/>
            </a:pPr>
            <a:r>
              <a:t>• 油藏动态分析：实时分析油藏压力、产量变化趋势</a:t>
            </a:r>
          </a:p>
          <a:p>
            <a:pPr>
              <a:spcAft>
                <a:spcPts val="800"/>
              </a:spcAft>
              <a:defRPr sz="1700"/>
            </a:pPr>
            <a:r>
              <a:t>• 生产制度优化：工作制度、注采参数智能调整</a:t>
            </a:r>
          </a:p>
          <a:p>
            <a:pPr>
              <a:spcAft>
                <a:spcPts val="800"/>
              </a:spcAft>
              <a:defRPr sz="1700"/>
            </a:pPr>
            <a:r>
              <a:t>• 多井协同优化：井群联合优化，提高整体采收率</a:t>
            </a:r>
          </a:p>
          <a:p>
            <a:pPr>
              <a:spcAft>
                <a:spcPts val="800"/>
              </a:spcAft>
              <a:defRPr sz="1700"/>
            </a:pPr>
            <a:r>
              <a:t>• 能耗智能管理：识别能耗异常，提出节能措施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【应用场景】</a:t>
            </a:r>
          </a:p>
          <a:p>
            <a:pPr>
              <a:spcAft>
                <a:spcPts val="800"/>
              </a:spcAft>
              <a:defRPr sz="1700"/>
            </a:pPr>
            <a:r>
              <a:t>场景1：老油田挖潜 → 识别剩余油分布，优化挖潜措施</a:t>
            </a:r>
          </a:p>
          <a:p>
            <a:pPr>
              <a:spcAft>
                <a:spcPts val="800"/>
              </a:spcAft>
              <a:defRPr sz="1700"/>
            </a:pPr>
            <a:r>
              <a:t>场景2：注水优化 → 注采平衡智能分析，提高水驱效率</a:t>
            </a:r>
          </a:p>
          <a:p>
            <a:pPr>
              <a:spcAft>
                <a:spcPts val="800"/>
              </a:spcAft>
              <a:defRPr sz="1700"/>
            </a:pPr>
            <a:r>
              <a:t>场景3：机采系统优化 → 抽油机参数优化，降低能耗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【价值成效】</a:t>
            </a:r>
          </a:p>
          <a:p>
            <a:pPr>
              <a:spcAft>
                <a:spcPts val="800"/>
              </a:spcAft>
              <a:defRPr sz="1700"/>
            </a:pPr>
            <a:r>
              <a:t>✓ 采收率提高2-5%</a:t>
            </a:r>
          </a:p>
          <a:p>
            <a:pPr>
              <a:spcAft>
                <a:spcPts val="800"/>
              </a:spcAft>
              <a:defRPr sz="1700"/>
            </a:pPr>
            <a:r>
              <a:t>✓ 单井管理成本降低20%+</a:t>
            </a:r>
          </a:p>
          <a:p>
            <a:pPr>
              <a:spcAft>
                <a:spcPts val="800"/>
              </a:spcAft>
              <a:defRPr sz="1700"/>
            </a:pPr>
            <a:r>
              <a:t>✓ 能耗降低15%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智能体五：安全巡检智能体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【核心能力】</a:t>
            </a:r>
          </a:p>
          <a:p>
            <a:pPr>
              <a:spcAft>
                <a:spcPts val="800"/>
              </a:spcAft>
              <a:defRPr sz="1700"/>
            </a:pPr>
            <a:r>
              <a:t>• 多模态感知：视觉、红外、气体检测、声学融合</a:t>
            </a:r>
          </a:p>
          <a:p>
            <a:pPr>
              <a:spcAft>
                <a:spcPts val="800"/>
              </a:spcAft>
              <a:defRPr sz="1700"/>
            </a:pPr>
            <a:r>
              <a:t>• 异常行为识别：人员违规操作、设备异常状态识别</a:t>
            </a:r>
          </a:p>
          <a:p>
            <a:pPr>
              <a:spcAft>
                <a:spcPts val="800"/>
              </a:spcAft>
              <a:defRPr sz="1700"/>
            </a:pPr>
            <a:r>
              <a:t>• 自主路径规划：根据巡检任务自动规划最优路线</a:t>
            </a:r>
          </a:p>
          <a:p>
            <a:pPr>
              <a:spcAft>
                <a:spcPts val="800"/>
              </a:spcAft>
              <a:defRPr sz="1700"/>
            </a:pPr>
            <a:r>
              <a:t>• 人机协同交互：异常情况自动告警，支持远程专家指导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【应用场景】</a:t>
            </a:r>
          </a:p>
          <a:p>
            <a:pPr>
              <a:spcAft>
                <a:spcPts val="800"/>
              </a:spcAft>
              <a:defRPr sz="1700"/>
            </a:pPr>
            <a:r>
              <a:t>场景1：场站智能巡检 → 无人机+机器人+固定摄像头协同巡检</a:t>
            </a:r>
          </a:p>
          <a:p>
            <a:pPr>
              <a:spcAft>
                <a:spcPts val="800"/>
              </a:spcAft>
              <a:defRPr sz="1700"/>
            </a:pPr>
            <a:r>
              <a:t>场景2：管道巡线 → 无人机长距离管道巡检，自动识别占压、泄漏</a:t>
            </a:r>
          </a:p>
          <a:p>
            <a:pPr>
              <a:spcAft>
                <a:spcPts val="800"/>
              </a:spcAft>
              <a:defRPr sz="1700"/>
            </a:pPr>
            <a:r>
              <a:t>场景3：作业现场监护 → 高风险作业实时监控，违章自动识别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【价值成效】</a:t>
            </a:r>
          </a:p>
          <a:p>
            <a:pPr>
              <a:spcAft>
                <a:spcPts val="800"/>
              </a:spcAft>
              <a:defRPr sz="1700"/>
            </a:pPr>
            <a:r>
              <a:t>✓ 巡检效率提升50%+</a:t>
            </a:r>
          </a:p>
          <a:p>
            <a:pPr>
              <a:spcAft>
                <a:spcPts val="800"/>
              </a:spcAft>
              <a:defRPr sz="1700"/>
            </a:pPr>
            <a:r>
              <a:t>✓ 人工巡检工作量减少30%</a:t>
            </a:r>
          </a:p>
          <a:p>
            <a:pPr>
              <a:spcAft>
                <a:spcPts val="800"/>
              </a:spcAft>
              <a:defRPr sz="1700"/>
            </a:pPr>
            <a:r>
              <a:t>✓ 安全事故减少40%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智能体六：应急指挥智能体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【核心能力】</a:t>
            </a:r>
          </a:p>
          <a:p>
            <a:pPr>
              <a:spcAft>
                <a:spcPts val="800"/>
              </a:spcAft>
              <a:defRPr sz="1700"/>
            </a:pPr>
            <a:r>
              <a:t>• 态势感知整合：整合现场视频、传感器、人员位置信息</a:t>
            </a:r>
          </a:p>
          <a:p>
            <a:pPr>
              <a:spcAft>
                <a:spcPts val="800"/>
              </a:spcAft>
              <a:defRPr sz="1700"/>
            </a:pPr>
            <a:r>
              <a:t>• 风险推演预测：基于数字孪生的风险扩散模拟</a:t>
            </a:r>
          </a:p>
          <a:p>
            <a:pPr>
              <a:spcAft>
                <a:spcPts val="800"/>
              </a:spcAft>
              <a:defRPr sz="1700"/>
            </a:pPr>
            <a:r>
              <a:t>• 资源智能调度：应急人员、设备、物资最优调配</a:t>
            </a:r>
          </a:p>
          <a:p>
            <a:pPr>
              <a:spcAft>
                <a:spcPts val="800"/>
              </a:spcAft>
              <a:defRPr sz="1700"/>
            </a:pPr>
            <a:r>
              <a:t>• 决策方案生成：基于知识库的应急处置方案推荐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【应用场景】</a:t>
            </a:r>
          </a:p>
          <a:p>
            <a:pPr>
              <a:spcAft>
                <a:spcPts val="800"/>
              </a:spcAft>
              <a:defRPr sz="1700"/>
            </a:pPr>
            <a:r>
              <a:t>场景1：井控应急处置 → 井喷、硫化氢泄漏等紧急情况快速响应</a:t>
            </a:r>
          </a:p>
          <a:p>
            <a:pPr>
              <a:spcAft>
                <a:spcPts val="800"/>
              </a:spcAft>
              <a:defRPr sz="1700"/>
            </a:pPr>
            <a:r>
              <a:t>场景2：火灾爆炸应对 → 智能分析火势蔓延，制定救援方案</a:t>
            </a:r>
          </a:p>
          <a:p>
            <a:pPr>
              <a:spcAft>
                <a:spcPts val="800"/>
              </a:spcAft>
              <a:defRPr sz="1700"/>
            </a:pPr>
            <a:r>
              <a:t>场景3：环境污染防控 → 溢油、泄漏等环境事件智能处置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【价值成效】</a:t>
            </a:r>
          </a:p>
          <a:p>
            <a:pPr>
              <a:spcAft>
                <a:spcPts val="800"/>
              </a:spcAft>
              <a:defRPr sz="1700"/>
            </a:pPr>
            <a:r>
              <a:t>✓ 应急响应时间缩短50%</a:t>
            </a:r>
          </a:p>
          <a:p>
            <a:pPr>
              <a:spcAft>
                <a:spcPts val="800"/>
              </a:spcAft>
              <a:defRPr sz="1700"/>
            </a:pPr>
            <a:r>
              <a:t>✓ 决策准确率提升40%</a:t>
            </a:r>
          </a:p>
          <a:p>
            <a:pPr>
              <a:spcAft>
                <a:spcPts val="800"/>
              </a:spcAft>
              <a:defRPr sz="1700"/>
            </a:pPr>
            <a:r>
              <a:t>✓ 次生灾害减少60%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总结：AI智能体在油气开采中的价值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【生产效率提升】</a:t>
            </a:r>
          </a:p>
          <a:p>
            <a:pPr>
              <a:spcAft>
                <a:spcPts val="800"/>
              </a:spcAft>
              <a:defRPr sz="1700"/>
            </a:pPr>
            <a:r>
              <a:t>• 钻井效率提升15-20%，压裂效率提升15%</a:t>
            </a:r>
          </a:p>
          <a:p>
            <a:pPr>
              <a:spcAft>
                <a:spcPts val="800"/>
              </a:spcAft>
              <a:defRPr sz="1700"/>
            </a:pPr>
            <a:r>
              <a:t>• 单井产量提高12%，采收率提高2-5%</a:t>
            </a:r>
          </a:p>
          <a:p>
            <a:pPr>
              <a:spcAft>
                <a:spcPts val="800"/>
              </a:spcAft>
              <a:defRPr sz="1700"/>
            </a:pPr>
            <a:r>
              <a:t>• 非计划停机减少30%，设备故障率下降28%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【成本显著降低】</a:t>
            </a:r>
          </a:p>
          <a:p>
            <a:pPr>
              <a:spcAft>
                <a:spcPts val="800"/>
              </a:spcAft>
              <a:defRPr sz="1700"/>
            </a:pPr>
            <a:r>
              <a:t>• 钻井成本降低10-15%，压裂成本降低10%</a:t>
            </a:r>
          </a:p>
          <a:p>
            <a:pPr>
              <a:spcAft>
                <a:spcPts val="800"/>
              </a:spcAft>
              <a:defRPr sz="1700"/>
            </a:pPr>
            <a:r>
              <a:t>• 维护成本降低22%，单井管理成本降低20%+</a:t>
            </a:r>
          </a:p>
          <a:p>
            <a:pPr>
              <a:spcAft>
                <a:spcPts val="800"/>
              </a:spcAft>
              <a:defRPr sz="1700"/>
            </a:pPr>
            <a:r>
              <a:t>• 能耗降低15%，年节省成本可达数千万美元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【安全水平提高】</a:t>
            </a:r>
          </a:p>
          <a:p>
            <a:pPr>
              <a:spcAft>
                <a:spcPts val="800"/>
              </a:spcAft>
              <a:defRPr sz="1700"/>
            </a:pPr>
            <a:r>
              <a:t>• 安全事故减少40%，人工巡检风险大幅降低</a:t>
            </a:r>
          </a:p>
          <a:p>
            <a:pPr>
              <a:spcAft>
                <a:spcPts val="800"/>
              </a:spcAft>
              <a:defRPr sz="1700"/>
            </a:pPr>
            <a:r>
              <a:t>• 应急响应时间缩短50%，次生灾害减少60%</a:t>
            </a:r>
          </a:p>
          <a:p>
            <a:pPr>
              <a:spcAft>
                <a:spcPts val="800"/>
              </a:spcAft>
              <a:defRPr sz="1700"/>
            </a:pPr>
            <a:r>
              <a:t>• 从'被动应对'转向'主动预防'的安全管理模式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【未来展望】</a:t>
            </a:r>
          </a:p>
          <a:p>
            <a:pPr>
              <a:spcAft>
                <a:spcPts val="800"/>
              </a:spcAft>
              <a:defRPr sz="1700"/>
            </a:pPr>
            <a:r>
              <a:t>随着昆仑大模型、长城大模型等行业大模型的持续进化，</a:t>
            </a:r>
          </a:p>
          <a:p>
            <a:pPr>
              <a:spcAft>
                <a:spcPts val="800"/>
              </a:spcAft>
              <a:defRPr sz="1700"/>
            </a:pPr>
            <a:r>
              <a:t>油气开采智能体将向多智能体协同、自主决策方向演进，</a:t>
            </a:r>
          </a:p>
          <a:p>
            <a:pPr>
              <a:spcAft>
                <a:spcPts val="800"/>
              </a:spcAft>
              <a:defRPr sz="1700"/>
            </a:pPr>
            <a:r>
              <a:t>最终实现'无人油田'、'智能油田'的愿景。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谢谢</a:t>
            </a:r>
          </a:p>
          <a:p>
            <a:pPr algn="ctr">
              <a:defRPr sz="2200">
                <a:solidFill>
                  <a:srgbClr val="666666"/>
                </a:solidFill>
              </a:defRPr>
            </a:pPr>
            <a:r>
              <a:t>AI赋能，智创未来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