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066CC"/>
                </a:solidFill>
                <a:latin typeface="微软雅黑"/>
              </a:defRPr>
            </a:pPr>
            <a:r>
              <a:t>2025-2026年中国石油勘探开发</a:t>
            </a:r>
            <a:br/>
            <a:r>
              <a:t>前沿动态报告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666666"/>
                </a:solidFill>
                <a:latin typeface="微软雅黑"/>
              </a:defRPr>
            </a:pPr>
            <a:r>
              <a:t>深海突破 · 万米深地 · 页岩油革命 · 数智融合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2026年3月</a:t>
            </a:r>
          </a:p>
        </p:txBody>
      </p:sp>
      <p:sp>
        <p:nvSpPr>
          <p:cNvPr id="6" name="Isosceles Triangle 5"/>
          <p:cNvSpPr/>
          <p:nvPr/>
        </p:nvSpPr>
        <p:spPr>
          <a:xfrm rot="10800000">
            <a:off x="10515600" y="5303520"/>
            <a:ext cx="1828800" cy="1645920"/>
          </a:xfrm>
          <a:prstGeom prst="triangl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10800000">
            <a:off x="11155680" y="5760720"/>
            <a:ext cx="914400" cy="822960"/>
          </a:xfrm>
          <a:prstGeom prst="triangl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66CC"/>
                </a:solidFill>
                <a:latin typeface="微软雅黑"/>
              </a:defRPr>
            </a:pPr>
            <a: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371600" cy="381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600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执行摘要与核心数据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600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834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深海油气：海洋成为增长极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600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474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万米深地：向地球深部进军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600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114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页岩油革命：三大示范区全面建成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634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600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4754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智能化与数字化转型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600"/>
                </a:solidFill>
                <a:latin typeface="微软雅黑"/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5394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技术装备迭代升级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600"/>
                </a:solidFill>
                <a:latin typeface="微软雅黑"/>
              </a:defRPr>
            </a:pPr>
            <a: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6035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微软雅黑"/>
              </a:defRPr>
            </a:pPr>
            <a:r>
              <a:t>总结与展望</a:t>
            </a:r>
          </a:p>
        </p:txBody>
      </p:sp>
      <p:sp>
        <p:nvSpPr>
          <p:cNvPr id="19" name="Isosceles Triangle 18"/>
          <p:cNvSpPr/>
          <p:nvPr/>
        </p:nvSpPr>
        <p:spPr>
          <a:xfrm rot="10800000">
            <a:off x="10515600" y="5303520"/>
            <a:ext cx="1828800" cy="1645920"/>
          </a:xfrm>
          <a:prstGeom prst="triangl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 rot="10800000">
            <a:off x="11155680" y="5760720"/>
            <a:ext cx="914400" cy="822960"/>
          </a:xfrm>
          <a:prstGeom prst="triangl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  <a:latin typeface="微软雅黑"/>
              </a:defRPr>
            </a:pPr>
            <a:r>
              <a:t>执行摘要：2025年油气勘探里程碑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微软雅黑"/>
              </a:defRPr>
            </a:pPr>
            <a:r>
              <a:t>国家能源局发布全国油气勘探开发十大标志性成果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0972800" cy="127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• 国内原油产量达2.16亿吨，创历史新高</a:t>
            </a:r>
            <a:br/>
            <a:r>
              <a:t>• 天然气产量超2600亿立方米，当量首次突破2亿吨</a:t>
            </a:r>
            <a:br/>
            <a:r>
              <a:t>• 海洋油气产量当量达9000万吨，海上能源堡垒作用凸显</a:t>
            </a:r>
            <a:br/>
            <a:r>
              <a:t>• 页岩油产量突破850万吨，革命性突破支撑国内增产</a:t>
            </a:r>
            <a:br/>
            <a:r>
              <a:t>• 万米深地科探井屡破纪录，首次在万米深层发现油气</a:t>
            </a:r>
          </a:p>
        </p:txBody>
      </p:sp>
      <p:sp>
        <p:nvSpPr>
          <p:cNvPr id="7" name="Isosceles Triangle 6"/>
          <p:cNvSpPr/>
          <p:nvPr/>
        </p:nvSpPr>
        <p:spPr>
          <a:xfrm rot="10800000">
            <a:off x="10515600" y="5303520"/>
            <a:ext cx="1828800" cy="1645920"/>
          </a:xfrm>
          <a:prstGeom prst="triangl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10800000">
            <a:off x="11155680" y="5760720"/>
            <a:ext cx="914400" cy="822960"/>
          </a:xfrm>
          <a:prstGeom prst="triangl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  <a:latin typeface="微软雅黑"/>
              </a:defRPr>
            </a:pPr>
            <a:r>
              <a:t>深海油气：海洋成为重要增长极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项目/气田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2025年产量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技术特点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战略意义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深海一号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50亿立方米天然气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1500米水深、遥控生产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世界首个远程遥控1500米级半潜平台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环海南岛气田群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1000万吨油当量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区域协同开发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较'十三五'末产量翻番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渤海油田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4000万吨油当量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60余个在产油气田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全国第一大海上原油基地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2025年海洋原油产量突破6600万吨，占全国石油增产量的80%</a:t>
            </a:r>
          </a:p>
        </p:txBody>
      </p:sp>
      <p:sp>
        <p:nvSpPr>
          <p:cNvPr id="6" name="Isosceles Triangle 5"/>
          <p:cNvSpPr/>
          <p:nvPr/>
        </p:nvSpPr>
        <p:spPr>
          <a:xfrm rot="10800000">
            <a:off x="10515600" y="5303520"/>
            <a:ext cx="1828800" cy="1645920"/>
          </a:xfrm>
          <a:prstGeom prst="triangl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10800000">
            <a:off x="11155680" y="5760720"/>
            <a:ext cx="914400" cy="822960"/>
          </a:xfrm>
          <a:prstGeom prst="triangl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  <a:latin typeface="微软雅黑"/>
              </a:defRPr>
            </a:pPr>
            <a:r>
              <a:t>深海勘探：亿吨级重大发现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微软雅黑"/>
              </a:defRPr>
            </a:pPr>
            <a:r>
              <a:t>北部湾盆地潜山领域实现重大突破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0972800" cy="127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• 惠州19-6油田：我国海上首个深层—超深层碎屑岩亿吨级油田</a:t>
            </a:r>
            <a:br/>
            <a:r>
              <a:t>• 秦皇岛29-6油田：亿吨级规模，浅层岩性领域重大突破</a:t>
            </a:r>
            <a:br/>
            <a:r>
              <a:t>• 渤中8-3南气田：渤海海域首个中生界火山岩气田</a:t>
            </a:r>
            <a:br/>
            <a:r>
              <a:t>• 南海首个深层大中型岩性油田——陆丰13-8油田成功发现</a:t>
            </a:r>
            <a:br/>
            <a:r>
              <a:t>• 截至2025年三季度末，中国海域获5个新发现，成功评价22个含油气构造</a:t>
            </a:r>
          </a:p>
        </p:txBody>
      </p:sp>
      <p:sp>
        <p:nvSpPr>
          <p:cNvPr id="7" name="Isosceles Triangle 6"/>
          <p:cNvSpPr/>
          <p:nvPr/>
        </p:nvSpPr>
        <p:spPr>
          <a:xfrm rot="10800000">
            <a:off x="10515600" y="5303520"/>
            <a:ext cx="1828800" cy="1645920"/>
          </a:xfrm>
          <a:prstGeom prst="triangl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10800000">
            <a:off x="11155680" y="5760720"/>
            <a:ext cx="914400" cy="822960"/>
          </a:xfrm>
          <a:prstGeom prst="triangl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  <a:latin typeface="微软雅黑"/>
              </a:defRPr>
            </a:pPr>
            <a:r>
              <a:t>深海一号：领航级智能工厂标杆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微软雅黑"/>
              </a:defRPr>
            </a:pPr>
            <a:r>
              <a:t>入选国家首批'领航级智能工厂'培育名单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0972800" cy="127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• 平台架构：'深海云游'一体化平台 + 数字孪生 + AI算法</a:t>
            </a:r>
            <a:br/>
            <a:r>
              <a:t>• 覆盖范围：建设-设计-生产-管理全生命周期28个智能化应用模块</a:t>
            </a:r>
            <a:br/>
            <a:r>
              <a:t>• 年增产天然气6000万立方米，单位产值能耗下降40%</a:t>
            </a:r>
            <a:br/>
            <a:r>
              <a:t>• 生产效率提升3%，百万吨油气当量用工仅28人（减少50%以上）</a:t>
            </a:r>
            <a:br/>
            <a:r>
              <a:t>• 世界首个具备远程遥控生产能力的1500米水深半潜式生产储油平台</a:t>
            </a:r>
          </a:p>
        </p:txBody>
      </p:sp>
      <p:sp>
        <p:nvSpPr>
          <p:cNvPr id="7" name="Isosceles Triangle 6"/>
          <p:cNvSpPr/>
          <p:nvPr/>
        </p:nvSpPr>
        <p:spPr>
          <a:xfrm rot="10800000">
            <a:off x="10515600" y="5303520"/>
            <a:ext cx="1828800" cy="1645920"/>
          </a:xfrm>
          <a:prstGeom prst="triangl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10800000">
            <a:off x="11155680" y="5760720"/>
            <a:ext cx="914400" cy="822960"/>
          </a:xfrm>
          <a:prstGeom prst="triangl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  <a:latin typeface="微软雅黑"/>
              </a:defRPr>
            </a:pPr>
            <a:r>
              <a:t>万米深地：向地球深部进军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井名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完钻井深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地理位置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核心成就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深地塔科1井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10,910米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塔里木盆地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首次在万米深层发现油气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深地川科1井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&gt;10,000米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四川盆地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全球最大尺寸井眼万米深井纪录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新安1井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&gt;10,000米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准噶尔盆地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新疆互盈公司万米突破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中国工程院院士孙金声：万米深地工程意义比肩探月工程</a:t>
            </a:r>
          </a:p>
        </p:txBody>
      </p:sp>
      <p:sp>
        <p:nvSpPr>
          <p:cNvPr id="6" name="Isosceles Triangle 5"/>
          <p:cNvSpPr/>
          <p:nvPr/>
        </p:nvSpPr>
        <p:spPr>
          <a:xfrm rot="10800000">
            <a:off x="10515600" y="5303520"/>
            <a:ext cx="1828800" cy="1645920"/>
          </a:xfrm>
          <a:prstGeom prst="triangl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10800000">
            <a:off x="11155680" y="5760720"/>
            <a:ext cx="914400" cy="822960"/>
          </a:xfrm>
          <a:prstGeom prst="triangl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  <a:latin typeface="微软雅黑"/>
              </a:defRPr>
            </a:pPr>
            <a:r>
              <a:t>塔里木盆地：深地工程主战场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微软雅黑"/>
              </a:defRPr>
            </a:pPr>
            <a:r>
              <a:t>超深层已成为我国油气资源增储上产的主阵地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0972800" cy="127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• 库车山前带：克深20井获高产气流，8个气藏实现千亿方规模增储</a:t>
            </a:r>
            <a:br/>
            <a:r>
              <a:t>• 富满油田：油气产量当量首次突破460万吨</a:t>
            </a:r>
            <a:br/>
            <a:r>
              <a:t>• 博孜—大北气田：产量首次突破100亿立方米</a:t>
            </a:r>
            <a:br/>
            <a:r>
              <a:t>• 顺北超深层油气田：2025年产量当量达324万吨</a:t>
            </a:r>
            <a:br/>
            <a:r>
              <a:t>• 塔河风化壳下断控穹隆勘探新领域：沙114-2加深井试获百吨高产</a:t>
            </a:r>
          </a:p>
        </p:txBody>
      </p:sp>
      <p:sp>
        <p:nvSpPr>
          <p:cNvPr id="7" name="Isosceles Triangle 6"/>
          <p:cNvSpPr/>
          <p:nvPr/>
        </p:nvSpPr>
        <p:spPr>
          <a:xfrm rot="10800000">
            <a:off x="10515600" y="5303520"/>
            <a:ext cx="1828800" cy="1645920"/>
          </a:xfrm>
          <a:prstGeom prst="triangl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10800000">
            <a:off x="11155680" y="5760720"/>
            <a:ext cx="914400" cy="822960"/>
          </a:xfrm>
          <a:prstGeom prst="triangl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  <a:latin typeface="微软雅黑"/>
              </a:defRPr>
            </a:pPr>
            <a:r>
              <a:t>页岩油革命：三大国家级示范区全面建成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示范区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核心技术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年产量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特点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新疆吉木萨尔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黄金靶体识别、广域支撑压裂等30余项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170万吨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产能释放最快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大庆古龙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陆相页岩油高效开发技术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快速上产中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老区新资源战略接替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胜利济阳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页岩油精细勘探开发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持续增产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技术集成创新示范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2025年国内页岩油产量飙升至850万吨以上，支撑全国原油产量达历史最高水平</a:t>
            </a:r>
          </a:p>
        </p:txBody>
      </p:sp>
      <p:sp>
        <p:nvSpPr>
          <p:cNvPr id="6" name="Isosceles Triangle 5"/>
          <p:cNvSpPr/>
          <p:nvPr/>
        </p:nvSpPr>
        <p:spPr>
          <a:xfrm rot="10800000">
            <a:off x="10515600" y="5303520"/>
            <a:ext cx="1828800" cy="1645920"/>
          </a:xfrm>
          <a:prstGeom prst="triangl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10800000">
            <a:off x="11155680" y="5760720"/>
            <a:ext cx="914400" cy="822960"/>
          </a:xfrm>
          <a:prstGeom prst="triangl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  <a:latin typeface="微软雅黑"/>
              </a:defRPr>
            </a:pPr>
            <a:r>
              <a:t>物探技术：2000万道集超大规模采集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微软雅黑"/>
              </a:defRPr>
            </a:pPr>
            <a:r>
              <a:t>中国石油东方物探刷新陆上地震勘探纪录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0972800" cy="127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• 首次成功应用2000万道集超高密度地震数据采集技术</a:t>
            </a:r>
            <a:br/>
            <a:r>
              <a:t>• 在准噶尔盆地玛51X井区高质量完成三维地震采集</a:t>
            </a:r>
            <a:br/>
            <a:r>
              <a:t>• 刷新我国陆上地震勘探采集观测系统强度纪录</a:t>
            </a:r>
            <a:br/>
            <a:r>
              <a:t>• 为复杂油气藏精准识别提供关键技术支撑</a:t>
            </a:r>
            <a:br/>
            <a:r>
              <a:t>• 助力页岩油从'资源潜力'向'现实产量'加速转化</a:t>
            </a:r>
          </a:p>
        </p:txBody>
      </p:sp>
      <p:sp>
        <p:nvSpPr>
          <p:cNvPr id="7" name="Isosceles Triangle 6"/>
          <p:cNvSpPr/>
          <p:nvPr/>
        </p:nvSpPr>
        <p:spPr>
          <a:xfrm rot="10800000">
            <a:off x="10515600" y="5303520"/>
            <a:ext cx="1828800" cy="1645920"/>
          </a:xfrm>
          <a:prstGeom prst="triangl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10800000">
            <a:off x="11155680" y="5760720"/>
            <a:ext cx="914400" cy="822960"/>
          </a:xfrm>
          <a:prstGeom prst="triangl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  <a:latin typeface="微软雅黑"/>
              </a:defRPr>
            </a:pPr>
            <a:r>
              <a:t>西南油气田：冲刺500亿立方米年产目标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微软雅黑"/>
              </a:defRPr>
            </a:pPr>
            <a:r>
              <a:t>数字化实践推动效率革命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0972800" cy="127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• 2025年新井投产达470口，创历史最高纪录，较上年增幅近40%</a:t>
            </a:r>
            <a:br/>
            <a:r>
              <a:t>• 川中二叠系井平均钻井周期从310天缩短至95.71天</a:t>
            </a:r>
            <a:br/>
            <a:r>
              <a:t>• 形成175兆帕超高压试油配套技术，创储层改造压力世界纪录</a:t>
            </a:r>
            <a:br/>
            <a:r>
              <a:t>• 勘探成功率提升至80%，成本降低34%</a:t>
            </a:r>
            <a:br/>
            <a:r>
              <a:t>• 通过投产井挂图跟踪、井工程全口径滚动等举措确保高效有序</a:t>
            </a:r>
          </a:p>
        </p:txBody>
      </p:sp>
      <p:sp>
        <p:nvSpPr>
          <p:cNvPr id="7" name="Isosceles Triangle 6"/>
          <p:cNvSpPr/>
          <p:nvPr/>
        </p:nvSpPr>
        <p:spPr>
          <a:xfrm rot="10800000">
            <a:off x="10515600" y="5303520"/>
            <a:ext cx="1828800" cy="1645920"/>
          </a:xfrm>
          <a:prstGeom prst="triangl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10800000">
            <a:off x="11155680" y="5760720"/>
            <a:ext cx="914400" cy="822960"/>
          </a:xfrm>
          <a:prstGeom prst="triangl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  <a:latin typeface="微软雅黑"/>
              </a:defRPr>
            </a:pPr>
            <a:r>
              <a:t>技术装备突破（一）：中国石油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装备/技术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技术参数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突破意义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EV80可控震源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8万磅超大吨位、12000米有效信号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破解超深层勘探信号弱、成像难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特深井自动化钻机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15000米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国内首套万米钻机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万米深层试油技术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储层改造压力世界纪录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支撑深地工程实施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物探、钻井、压裂、开采全链条核心技术向高端化迈进</a:t>
            </a:r>
          </a:p>
        </p:txBody>
      </p:sp>
      <p:sp>
        <p:nvSpPr>
          <p:cNvPr id="6" name="Isosceles Triangle 5"/>
          <p:cNvSpPr/>
          <p:nvPr/>
        </p:nvSpPr>
        <p:spPr>
          <a:xfrm rot="10800000">
            <a:off x="10515600" y="5303520"/>
            <a:ext cx="1828800" cy="1645920"/>
          </a:xfrm>
          <a:prstGeom prst="triangl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10800000">
            <a:off x="11155680" y="5760720"/>
            <a:ext cx="914400" cy="822960"/>
          </a:xfrm>
          <a:prstGeom prst="triangl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  <a:latin typeface="微软雅黑"/>
              </a:defRPr>
            </a:pPr>
            <a:r>
              <a:t>技术装备突破（二）：中国石化与中国海油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企业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装备/技术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技术参数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突破意义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中国石化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应龙科学钻井系统1.0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钻井全流程智能协同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国产智能化钻井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中国石化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耐高温混合钻头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耐245℃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打破国外技术垄断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中国海油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海洋石油696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首艘一体化电驱压裂船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性能参数全球领先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中国海油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3000米水深脐带缆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CFT光连接器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工程技术全球前三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耐215℃长寿命螺杆钻具、3000米水深连接器实现国产替代</a:t>
            </a:r>
          </a:p>
        </p:txBody>
      </p:sp>
      <p:sp>
        <p:nvSpPr>
          <p:cNvPr id="6" name="Isosceles Triangle 5"/>
          <p:cNvSpPr/>
          <p:nvPr/>
        </p:nvSpPr>
        <p:spPr>
          <a:xfrm rot="10800000">
            <a:off x="10515600" y="5303520"/>
            <a:ext cx="1828800" cy="1645920"/>
          </a:xfrm>
          <a:prstGeom prst="triangl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10800000">
            <a:off x="11155680" y="5760720"/>
            <a:ext cx="914400" cy="822960"/>
          </a:xfrm>
          <a:prstGeom prst="triangl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  <a:latin typeface="微软雅黑"/>
              </a:defRPr>
            </a:pPr>
            <a:r>
              <a:t>非常规油气：页岩气勘探新突破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微软雅黑"/>
              </a:defRPr>
            </a:pPr>
            <a:r>
              <a:t>从四川盆地向鄂西地区有效拓展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0972800" cy="127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• 四川盆地：页岩气产量约270亿立方米，国内首个万亿方深层页岩气储量区</a:t>
            </a:r>
            <a:br/>
            <a:r>
              <a:t>• 鄂西突破：恩施二叠系页岩层系实现工业气流</a:t>
            </a:r>
            <a:br/>
            <a:r>
              <a:t>• 新增页岩气地质资源量1329.5亿立方米</a:t>
            </a:r>
            <a:br/>
            <a:r>
              <a:t>• 中国石化发现国内首个二叠系页岩气大气田</a:t>
            </a:r>
            <a:br/>
            <a:r>
              <a:t>• 形成的成藏理论认识和高效返排技术具有显著工程实践意义</a:t>
            </a:r>
          </a:p>
        </p:txBody>
      </p:sp>
      <p:sp>
        <p:nvSpPr>
          <p:cNvPr id="7" name="Isosceles Triangle 6"/>
          <p:cNvSpPr/>
          <p:nvPr/>
        </p:nvSpPr>
        <p:spPr>
          <a:xfrm rot="10800000">
            <a:off x="10515600" y="5303520"/>
            <a:ext cx="1828800" cy="1645920"/>
          </a:xfrm>
          <a:prstGeom prst="triangl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10800000">
            <a:off x="11155680" y="5760720"/>
            <a:ext cx="914400" cy="822960"/>
          </a:xfrm>
          <a:prstGeom prst="triangl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  <a:latin typeface="微软雅黑"/>
              </a:defRPr>
            </a:pPr>
            <a:r>
              <a:t>2025年核心数据汇总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9728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数据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同比/历史对比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国内原油产量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2.16亿吨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创历史新高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国内天然气产量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&gt;2600亿立方米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当量首次突破2亿吨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海洋油气产量当量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9000万吨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海上能源堡垒凸显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页岩油产量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&gt;850万吨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革命性突破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海洋石油产量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6800万吨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占全国增产量80%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四川盆地天然气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800亿立方米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微软雅黑"/>
                        </a:defRPr>
                      </a:pPr>
                      <a:r>
                        <a:t>增量占全国40%以上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大力提升油气勘探开发力度'七年行动计划'圆满收官</a:t>
            </a:r>
          </a:p>
        </p:txBody>
      </p:sp>
      <p:sp>
        <p:nvSpPr>
          <p:cNvPr id="6" name="Isosceles Triangle 5"/>
          <p:cNvSpPr/>
          <p:nvPr/>
        </p:nvSpPr>
        <p:spPr>
          <a:xfrm rot="10800000">
            <a:off x="10515600" y="5303520"/>
            <a:ext cx="1828800" cy="1645920"/>
          </a:xfrm>
          <a:prstGeom prst="triangl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10800000">
            <a:off x="11155680" y="5760720"/>
            <a:ext cx="914400" cy="822960"/>
          </a:xfrm>
          <a:prstGeom prst="triangl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  <a:latin typeface="微软雅黑"/>
              </a:defRPr>
            </a:pPr>
            <a:r>
              <a:t>总结与展望：四大战略趋势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微软雅黑"/>
              </a:defRPr>
            </a:pPr>
            <a:r>
              <a:t>2026年持续推进'万亿立方米储量、千万吨油田'目标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0972800" cy="127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t>• 向深发展：深海+深地双轮驱动，技术极限不断突破</a:t>
            </a:r>
            <a:br/>
            <a:r>
              <a:t>• 非常规主导：页岩油、页岩气成为增储上产主力</a:t>
            </a:r>
            <a:br/>
            <a:r>
              <a:t>• 数智融合：AI、数字孪生重塑油气生产模式</a:t>
            </a:r>
            <a:br/>
            <a:r>
              <a:t>• 装备自主：关键核心技术国产化加速</a:t>
            </a:r>
            <a:br/>
            <a:r>
              <a:t>• 2026年攻坚重点：页岩油、深层页岩气复杂地质攻关</a:t>
            </a:r>
          </a:p>
        </p:txBody>
      </p:sp>
      <p:sp>
        <p:nvSpPr>
          <p:cNvPr id="7" name="Isosceles Triangle 6"/>
          <p:cNvSpPr/>
          <p:nvPr/>
        </p:nvSpPr>
        <p:spPr>
          <a:xfrm rot="10800000">
            <a:off x="10515600" y="5303520"/>
            <a:ext cx="1828800" cy="1645920"/>
          </a:xfrm>
          <a:prstGeom prst="triangl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10800000">
            <a:off x="11155680" y="5760720"/>
            <a:ext cx="914400" cy="822960"/>
          </a:xfrm>
          <a:prstGeom prst="triangl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66CC"/>
                </a:solidFill>
                <a:latin typeface="微软雅黑"/>
              </a:defRPr>
            </a:pPr>
            <a:r>
              <a:t>从陆地到海洋</a:t>
            </a:r>
            <a:br/>
            <a:r>
              <a:t>从常规到非常规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33333"/>
                </a:solidFill>
                <a:latin typeface="微软雅黑"/>
              </a:defRPr>
            </a:pPr>
            <a:r>
              <a:t>油气增储上产不再是单一赛道的冲刺，</a:t>
            </a:r>
            <a:br/>
            <a:r>
              <a:t>而是多赛道并跑的接力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600"/>
                </a:solidFill>
                <a:latin typeface="微软雅黑"/>
              </a:defRPr>
            </a:pPr>
            <a:r>
              <a:t>国内油气自主保障能力进一步提升</a:t>
            </a:r>
          </a:p>
        </p:txBody>
      </p:sp>
      <p:sp>
        <p:nvSpPr>
          <p:cNvPr id="6" name="Isosceles Triangle 5"/>
          <p:cNvSpPr/>
          <p:nvPr/>
        </p:nvSpPr>
        <p:spPr>
          <a:xfrm rot="10800000">
            <a:off x="10515600" y="5303520"/>
            <a:ext cx="1828800" cy="1645920"/>
          </a:xfrm>
          <a:prstGeom prst="triangl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10800000">
            <a:off x="11155680" y="5760720"/>
            <a:ext cx="914400" cy="822960"/>
          </a:xfrm>
          <a:prstGeom prst="triangl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