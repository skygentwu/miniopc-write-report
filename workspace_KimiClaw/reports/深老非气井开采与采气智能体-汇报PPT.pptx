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0"/>
            <a:ext cx="2743200" cy="4572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深老非气井开采与采气智能体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96D6"/>
                </a:solidFill>
              </a:defRPr>
            </a:pPr>
            <a:r>
              <a:t>深层超深层 · 老气田 · 非常规气田智能化解决方案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背景与挑战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深老非气田开发痛点与机遇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技术方案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三大场景核心技术突破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智能体架构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五大核心智能体设计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AI推荐系统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智能化决策与优化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落地实施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03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分阶段实施路径与ROI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总结展望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126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价值成效与未来规划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背景与挑战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"深老非"气田定义与资源现状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深层/超深层：埋深超过6000m，万米级特深层，占全国油气资源总量约1/3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老气田：开发年限&gt;10年，已进入中后期，已开发气田占比&gt;60%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非常规气田：页岩气、煤层气、致密气等，天然气产量占比&gt;50%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三大类型气田是我国天然气稳产增产的主阵地，也是开发难度最大的领域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"深老非"气田开发痛点对比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核心挑战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技术难点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资源占比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深层/超深层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超高温高压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260°C/245MPa极限环境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老气田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低压低产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递减率20-30%，开井率&lt;70%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60%+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非常规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低渗低丰度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压裂效果不确定，单井差异大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50%+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智能化转型的必然选择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传统模式：依赖专家经验，决策周期长，难以应对复杂工况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数据孤岛：SCADA、测井、地质等数据分散，难以形成统一视图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人员短缺：资深专家稀缺，知识传承困难，"井多人少"矛盾突出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成本压力：低气价环境下，降本增效需求迫切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AI赋能：通过智能体实现"数据驱动+知识沉淀+自主优化"的新型生产模式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技术方案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场景一：深层超深层 - 万米级高温高压开采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技术挑战：井温260°C（岩浆温度25%）、压力245MPa（2个马里亚纳海沟）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核心突破：260°C超高温测井仪、1.2万米自动化钻机、超高温射孔器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典型案例：深地塔科1井成功钻至10910米，刷新全球陆上万米纪录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AI应用：钻头磨损预测、井下故障预警、地质导向实时优化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场景二：老气田 - 低压低产井智能排采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技术体系：泡沫排水、柱塞气举、速度管柱、机抽排水、气举排水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智能间开：根据"水气比"分类管理，自动化间开减少水淹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老井挖潜：侧钻水平井、查层补孔、储层解堵，停产井复活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典型案例：苏里格气田综合递减率从32%降至7%，稳产6年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场景三：非常规气田 - 全生命周期智能管控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地质工程一体化：地震数据+钻压采信息实时融合，精准定位甜点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水平井优快钻井：一趟钻技术比例80%，水平段突破2500米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缝网体积压裂：工厂化拉链式压裂，日压裂6段，微地震实时监测</a:t>
            </a:r>
          </a:p>
          <a:p>
            <a:pPr>
              <a:spcBef>
                <a:spcPts val="1000"/>
              </a:spcBef>
              <a:defRPr sz="1600">
                <a:solidFill>
                  <a:srgbClr val="212529"/>
                </a:solidFill>
              </a:defRPr>
            </a:pPr>
            <a:r>
              <a:t>● 典型案例：大吉气田日产气突破650万m³，单井EUR提升至6000万m³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三类气田技术特征对比</a:t>
            </a:r>
          </a:p>
        </p:txBody>
      </p:sp>
      <p:pic>
        <p:nvPicPr>
          <p:cNvPr id="4" name="Picture 3" descr="三类气田技术特征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429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深层：技术复杂度最高；老气田：数字化就绪度最高；非常规：ROI潜力最大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智能体架构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五大核心智能体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钻井优化智能体：轨迹优化、钻参推荐、风险预警，钻井效率↑20%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压裂优化智能体：参数优化、裂缝模拟、效果预测，单井产量↑15%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生产优化智能体：制度优化、配产决策、能耗管理，采收率↑2-5%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设备健康管理智能体：故障预测、寿命评估、维护决策，停机↓30%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安全巡检智能体：风险识别、预警推送、应急指挥，事故率↓40%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智能体功能与效益对比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智能体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效率提升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成本降低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效果提升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钻井优化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钻参优化、风险预警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压裂优化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参数优化、裂缝模拟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生产优化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制度优化、配产决策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设备健康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故障预测、寿命评估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安全巡检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风险识别、应急指挥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技术成熟度与投资回报矩阵</a:t>
            </a:r>
          </a:p>
        </p:txBody>
      </p:sp>
      <p:pic>
        <p:nvPicPr>
          <p:cNvPr id="4" name="Picture 3" descr="深老非技术成熟度矩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698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气泡大小代表投资规模，右上角为"甜蜜区"，建议优先部署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AI推荐系统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AI推荐系统核心能力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多模型融合决策：预测模型+优化模型+知识图谱+规则引擎协同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四类推荐场景：预警推荐（实时）、优化推荐（小时级）、决策推荐（按需）、预测推荐（天/周级）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可解释AI：SHAP值展示推荐理由，增强人工信任度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人机协同：置信度分级决策，高风险人工审核，低风险自动执行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典型AI推荐场景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推荐内容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置信度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人机交互模式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钻井优化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钻压25→28吨，转速120→110rpm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AI推荐→一键应用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故障预警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卡钻风险预警，建议立即活动钻具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AI推送→即时响应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排采工艺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首推柱塞气举，备选速度管柱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多方案→人工确认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间开制度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关井8h→10h，开井16h→12h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AI推荐→自动执行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压裂实时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排量12→14m³/min，+暂堵剂2m³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实时弹窗→倒计时执行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人机协同决策机制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高置信度（&gt;90%）：自动执行，人工事后确认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中高置信度（70-90%）：AI推荐→人工一键确认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中等置信度（50-70%）：协同决策，AI方案→人工修改确认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低置信度（&lt;50%）：人工主导，AI仅提供参考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反馈学习：方案执行→效果追踪→模型更新→知识沉淀，形成闭环优化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智能体功能与效益对比</a:t>
            </a:r>
          </a:p>
        </p:txBody>
      </p:sp>
      <p:pic>
        <p:nvPicPr>
          <p:cNvPr id="4" name="Picture 3" descr="智能体功能效益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729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安全巡检和设备健康智能体的效益提升最为显著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落地实施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落地策略：先痛点、后全面，先试点、后推广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场景驱动：从业务痛点出发，选择3-5口典型井先行试点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价值导向：优先高ROI场景，老气田智能排采ROI仅1.6年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渐进迭代：3个月见效，6个月规模推广，快速建立信心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人机协同：专家审核关键决策，AI负责预警和推荐，逐步过渡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分场景实施路径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投资规模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实施周期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预期效果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老气田智能排采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2500-3700万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3-6个月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开井率+15%，采收率+2-3%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⭐⭐⭐ 首推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深层钻井优化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400-580万/井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6-9个月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ROP+10-15%，事故-30%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⭐⭐ 高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非常规全生命周期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650-1050万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12-18个月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EUR+7%，递减-5%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⭐⭐ 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实施路线图（18个月规划）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第一阶段（1-3月）：数据基础建设，历史数据整理，传感器部署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第二阶段（3-6月）：老气田智能体试点，5-10口井快速见效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第三阶段（6-12月）：深层钻井智能体开发，非常规平台搭建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第四阶段（9-18月）：非常规智能体投产，全气田规模推广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持续优化：每月模型迭代，每季度功能升级，每年技术升级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7F27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总结展望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投资效益分析（以老气田300口井为例）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投资（万）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年收益（万）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传感器与网络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300口井×8万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AI平台开发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含5大智能体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总投资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3,900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产量提升收益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采收率+2%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成本降低收益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人工-60%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事故减少收益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停机-30%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年总收益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投资回报期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1.6年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NPV(5年)=7600万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关键成功因素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领导重视：一把手工程，纳入年度KPI，资源保障到位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业务主导：采气/钻井工程师深度参与，避免IT主导业务脱节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快速见效：3个月内看到效果，建立信心，获得持续支持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持续迭代：每月模型优化，每季度功能升级，保持技术领先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知识沉淀：建立专家知识库，避免人才流失影响，实现经验传承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工业大模型：构建油气行业专属大模型，实现自然语言交互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数字孪生深化：从单井向气田级、集团级数字孪生演进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多智能体协同：钻井-压裂-生产全流程智能体协同决策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边缘智能部署：边缘计算+AI芯片，实现毫秒级响应</a:t>
            </a:r>
          </a:p>
          <a:p>
            <a:pPr>
              <a:spcBef>
                <a:spcPts val="1200"/>
              </a:spcBef>
              <a:defRPr sz="1800">
                <a:solidFill>
                  <a:srgbClr val="212529"/>
                </a:solidFill>
              </a:defRPr>
            </a:pPr>
            <a:r>
              <a:t>● 自主化运营：逐步实现"无人值守、少人巡检、自主决策"的智能气田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6D6"/>
                </a:solidFill>
              </a:defRPr>
            </a:pPr>
            <a:r>
              <a:t>深老非气井开采与采气智能体解决方案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