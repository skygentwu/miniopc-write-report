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8288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设备健康管理智能体</a:t>
            </a:r>
          </a:p>
          <a:p>
            <a:pPr>
              <a:spcBef>
                <a:spcPts val="2000"/>
              </a:spcBef>
              <a:defRPr sz="2800">
                <a:solidFill>
                  <a:srgbClr val="0099FF"/>
                </a:solidFill>
              </a:defRPr>
            </a:pPr>
            <a:r>
              <a:t>PHM Agent 完整解决方案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预测性维护 · 故障诊断 · 寿命预测 · 智能决策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PHM核心价值指标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28B22"/>
                </a:solidFill>
              </a:defRPr>
            </a:pPr>
            <a:r>
              <a:t>30-50%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非计划停机减少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194560" cy="27432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33868160" cy="27432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64592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20-30%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维护成本降低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114800"/>
            <a:ext cx="2194560" cy="27432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4114800"/>
            <a:ext cx="89099136" cy="2743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164592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99FF"/>
                </a:solidFill>
              </a:defRPr>
            </a:pPr>
            <a:r>
              <a:t>10-20%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设备寿命延长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2194560" cy="27432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4114800"/>
            <a:ext cx="44769023" cy="2743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0" y="164592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C143C"/>
                </a:solidFill>
              </a:defRPr>
            </a:pPr>
            <a:r>
              <a:t>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安全事故减少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114800"/>
            <a:ext cx="2194560" cy="27432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0" y="4114800"/>
            <a:ext cx="1755648" cy="27432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* 数据来源于行业标杆案例统计分析 | 实施周期：12-18个月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五层系统架构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10058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应用层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E6E6"/>
                </a:solidFill>
              </a:defRPr>
            </a:pPr>
            <a:r>
              <a:t>智能体核心功能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实时监测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故障诊断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280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寿命预测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59" y="1280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维修决策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77295" cy="100584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算法层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E6E6"/>
                </a:solidFill>
              </a:defRPr>
            </a:pPr>
            <a:r>
              <a:t>AI模型与知识库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423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深度学习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423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知识图谱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423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数字孪生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423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专家系统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1277295" cy="100584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E6E6"/>
                </a:solidFill>
              </a:defRPr>
            </a:pPr>
            <a:r>
              <a:t>数据治理与存储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566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时序数据库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566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数据湖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566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ETL处理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3566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质量管理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11277295" cy="1005840"/>
          </a:xfrm>
          <a:prstGeom prst="roundRect">
            <a:avLst/>
          </a:prstGeom>
          <a:solidFill>
            <a:srgbClr val="66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感知层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83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E6E6"/>
                </a:solidFill>
              </a:defRPr>
            </a:pPr>
            <a:r>
              <a:t>传感器网络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709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振动传感器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4709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温度传感器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4709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压力传感器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59" y="4709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电流传感器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69280"/>
            <a:ext cx="11277295" cy="1005840"/>
          </a:xfrm>
          <a:prstGeom prst="roundRect">
            <a:avLst/>
          </a:prstGeom>
          <a:solidFill>
            <a:srgbClr val="99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设备层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26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E6E6"/>
                </a:solidFill>
              </a:defRPr>
            </a:pPr>
            <a:r>
              <a:t>工业设备资产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5852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旋转机械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5852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压力容器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5852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管网系统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59" y="585216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电气设备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健康状态评估模型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13716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绿色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85-100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28B22"/>
                </a:solidFill>
              </a:defRPr>
            </a:pPr>
            <a:r>
              <a:t>健康状态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正常维护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474720" cy="137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黄色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60-84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</a:defRPr>
            </a:pPr>
            <a:r>
              <a:t>注意状态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加强监测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47472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474720" cy="13716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红色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0116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&lt;60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C143C"/>
                </a:solidFill>
              </a:defRPr>
            </a:pPr>
            <a:r>
              <a:t>危险状态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立即检修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健康指数(HI) = 综合评估设备振动、温度、压力等多参数状态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四阶段推进路线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362895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342900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基础搭建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66CC"/>
                </a:solidFill>
              </a:defRPr>
            </a:pPr>
            <a:r>
              <a:t>1-3月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03120"/>
            <a:ext cx="2194560" cy="1371600"/>
          </a:xfrm>
          <a:prstGeom prst="roundRect">
            <a:avLst/>
          </a:prstGeom>
          <a:solidFill>
            <a:srgbClr val="FAFA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/>
            </a:pPr>
            <a:r>
              <a:t>• 传感器部署</a:t>
            </a:r>
            <a:br/>
            <a:r>
              <a:t>• 平台搭建</a:t>
            </a:r>
            <a:br/>
            <a:r>
              <a:t>• 数据采集</a:t>
            </a:r>
          </a:p>
        </p:txBody>
      </p:sp>
      <p:sp>
        <p:nvSpPr>
          <p:cNvPr id="10" name="Oval 9"/>
          <p:cNvSpPr/>
          <p:nvPr/>
        </p:nvSpPr>
        <p:spPr>
          <a:xfrm>
            <a:off x="3886200" y="3429000"/>
            <a:ext cx="502920" cy="502920"/>
          </a:xfrm>
          <a:prstGeom prst="ellipse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FF"/>
                </a:solidFill>
              </a:defRPr>
            </a:pPr>
            <a:r>
              <a:t>模型构建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99FF"/>
                </a:solidFill>
              </a:defRPr>
            </a:pPr>
            <a:r>
              <a:t>3-6月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103120"/>
            <a:ext cx="2194560" cy="1371600"/>
          </a:xfrm>
          <a:prstGeom prst="roundRect">
            <a:avLst/>
          </a:prstGeom>
          <a:solidFill>
            <a:srgbClr val="FAFAFA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/>
            </a:pPr>
            <a:r>
              <a:t>• 特征工程</a:t>
            </a:r>
            <a:br/>
            <a:r>
              <a:t>• 算法训练</a:t>
            </a:r>
            <a:br/>
            <a:r>
              <a:t>• 知识沉淀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3429000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</a:defRPr>
            </a:pPr>
            <a:r>
              <a:t>规模推广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9900"/>
                </a:solidFill>
              </a:defRPr>
            </a:pPr>
            <a:r>
              <a:t>6-12月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103120"/>
            <a:ext cx="2194560" cy="1371600"/>
          </a:xfrm>
          <a:prstGeom prst="roundRect">
            <a:avLst/>
          </a:prstGeom>
          <a:solidFill>
            <a:srgbClr val="FAFAFA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/>
            </a:pPr>
            <a:r>
              <a:t>• 全面覆盖</a:t>
            </a:r>
            <a:br/>
            <a:r>
              <a:t>• 系统集成</a:t>
            </a:r>
            <a:br/>
            <a:r>
              <a:t>• 流程再造</a:t>
            </a:r>
          </a:p>
        </p:txBody>
      </p:sp>
      <p:sp>
        <p:nvSpPr>
          <p:cNvPr id="20" name="Oval 19"/>
          <p:cNvSpPr/>
          <p:nvPr/>
        </p:nvSpPr>
        <p:spPr>
          <a:xfrm>
            <a:off x="9372600" y="3429000"/>
            <a:ext cx="502920" cy="50292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08080"/>
                </a:solidFill>
              </a:defRPr>
            </a:pPr>
            <a:r>
              <a:t>持续优化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12月+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103120"/>
            <a:ext cx="2194560" cy="1371600"/>
          </a:xfrm>
          <a:prstGeom prst="round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/>
            </a:pPr>
            <a:r>
              <a:t>• 智能决策</a:t>
            </a:r>
            <a:br/>
            <a:r>
              <a:t>• 生态扩展</a:t>
            </a:r>
            <a:br/>
            <a:r>
              <a:t>• 标准输出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里程碑交付物：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阶段1: 设备数字化档案 + 数据采集系统 | 阶段2: 算法模型库(准确率&gt;85%) | 阶段3: 完整PHM系统 + 管理制度 | 阶段4: 自适应进化系统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560320"/>
            <a:ext cx="48764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让设备会说话、能预测、自维护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9FF"/>
                </a:solidFill>
              </a:defRPr>
            </a:pPr>
            <a:r>
              <a:t>设备健康管理智能体 PHM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5029200"/>
            <a:ext cx="48764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