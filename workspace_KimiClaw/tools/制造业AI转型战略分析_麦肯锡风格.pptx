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3B70"/>
                </a:solidFill>
                <a:latin typeface="Times New Roman"/>
              </a:defRPr>
            </a:pPr>
            <a:r>
              <a:t>制造业AI转型战略分析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B6B6B"/>
                </a:solidFill>
                <a:latin typeface="Helvetica"/>
              </a:defRPr>
            </a:pPr>
            <a:r>
              <a:t>从ERP流程分工到智能体协同的演进路径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749039"/>
            <a:ext cx="1828800" cy="25400"/>
          </a:xfrm>
          <a:prstGeom prst="rect">
            <a:avLst/>
          </a:prstGeom>
          <a:noFill/>
          <a:ln w="381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Helvetica"/>
              </a:defRPr>
            </a:pPr>
            <a:r>
              <a:t>2026年3月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217920"/>
            <a:ext cx="3047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B0"/>
                </a:solidFill>
                <a:latin typeface="Helvetica"/>
              </a:defRPr>
            </a:pPr>
            <a:r>
              <a:t>机密 · 仅供内部讨论使用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B0B0B0"/>
                </a:solidFill>
                <a:latin typeface="Times New Roman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B70"/>
                </a:solidFill>
                <a:latin typeface="Times New Roman"/>
              </a:defRPr>
            </a:pPr>
            <a:r>
              <a:t>市场现状与趋势洞察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937760"/>
            <a:ext cx="3657600" cy="12700"/>
          </a:xfrm>
          <a:prstGeom prst="rect">
            <a:avLst/>
          </a:prstGeom>
          <a:noFill/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B70"/>
                </a:solidFill>
                <a:latin typeface="Times New Roman"/>
              </a:defRPr>
            </a:pPr>
            <a:r>
              <a:t>制造业AI应用现状：三大核心矛盾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7295" cy="12700"/>
          </a:xfrm>
          <a:prstGeom prst="rect">
            <a:avLst/>
          </a:prstGeom>
          <a:noFill/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2C2C"/>
                </a:solidFill>
                <a:latin typeface="Helvetica"/>
              </a:defRPr>
            </a:pPr>
            <a:r>
              <a:t>• AI普及率不足11%，远低于欧美水平，但近八成企业认可AI价值</a:t>
            </a:r>
            <a:br/>
            <a:r>
              <a:t>• 43%企业尚未部署工业智能体，仅8%实现多场景应用</a:t>
            </a:r>
            <a:br/>
            <a:r>
              <a:t>• 实验室精度90%+，但产线粉尘、振动下误判率飙升</a:t>
            </a:r>
            <a:br/>
            <a:r>
              <a:t>• 数据质量不足、数据碎片化、设备兼容性差仍是主要障碍</a:t>
            </a:r>
            <a:br/>
            <a:r>
              <a:t>• 从单点优化走向全局协同，从感知走向认知是核心趋势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336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3B70"/>
                </a:solidFill>
                <a:latin typeface="Helvetica"/>
              </a:defRPr>
            </a:pPr>
            <a:r>
              <a:t>关键洞察</a:t>
            </a:r>
            <a:br/>
            <a:r>
              <a:t>→ 政策驱动：工信部2027年目标1000个工业智能体</a:t>
            </a:r>
            <a:br/>
            <a:r>
              <a:t>→ 技术拐点：视觉理解+自主执行突破API割裂难题</a:t>
            </a:r>
            <a:br/>
            <a:r>
              <a:t>→ 实施路径：先单点后全局，先质检后排产再维护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B0"/>
                </a:solidFill>
                <a:latin typeface="Helvetic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B70"/>
                </a:solidFill>
                <a:latin typeface="Times New Roman"/>
              </a:defRPr>
            </a:pPr>
            <a:r>
              <a:t>制造业AI应用场景成熟度分布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4888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0" y="1371600"/>
            <a:ext cx="2590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3B70"/>
                </a:solidFill>
                <a:latin typeface="Helvetica"/>
              </a:defRPr>
            </a:pPr>
            <a:r>
              <a:t>关键洞察</a:t>
            </a:r>
            <a:br/>
            <a:r>
              <a:t>→ AI质检成熟度最高，已规模化应用</a:t>
            </a:r>
            <a:br/>
            <a:r>
              <a:t>→ 预测维护增速最快，年增长率35%</a:t>
            </a:r>
            <a:br/>
            <a:r>
              <a:t>→ 知识图谱尚处早期，潜力巨大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0B0B0"/>
                </a:solidFill>
                <a:latin typeface="Helvetica"/>
              </a:defRPr>
            </a:pPr>
            <a:r>
              <a:t>数据来源: 内部数据库 · 更新时间: 2026-03-10 · 置信区间: 95%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B0"/>
                </a:solidFill>
                <a:latin typeface="Helvetic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B70"/>
                </a:solidFill>
                <a:latin typeface="Times New Roman"/>
              </a:defRPr>
            </a:pPr>
            <a:r>
              <a:t>制造业AI应用战略定位矩阵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315200" cy="48494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1371600"/>
            <a:ext cx="3504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2C2C"/>
                </a:solidFill>
                <a:latin typeface="Helvetica"/>
              </a:defRPr>
            </a:pPr>
            <a:r>
              <a:t>明星：AI质检/视觉检测</a:t>
            </a:r>
            <a:br/>
            <a:r>
              <a:t>高增长+高渗透，优先投入</a:t>
            </a:r>
            <a:br/>
            <a:r>
              <a:t>问题：预测性维护</a:t>
            </a:r>
            <a:br/>
            <a:r>
              <a:t>高增长+低渗透，重点培育</a:t>
            </a:r>
            <a:br/>
            <a:r>
              <a:t>现金牛：MES/ERP集成</a:t>
            </a:r>
            <a:br/>
            <a:r>
              <a:t>低增长+高渗透，稳健运营</a:t>
            </a:r>
            <a:br/>
            <a:r>
              <a:t>瘦狗：传统规则引擎</a:t>
            </a:r>
            <a:br/>
            <a:r>
              <a:t>低增长+低渗透，逐步替换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B0"/>
                </a:solidFill>
                <a:latin typeface="Helvetica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B0B0B0"/>
                </a:solidFill>
                <a:latin typeface="Times New Roman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B70"/>
                </a:solidFill>
                <a:latin typeface="Times New Roman"/>
              </a:defRPr>
            </a:pPr>
            <a:r>
              <a:t>智能体架构与实施路径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937760"/>
            <a:ext cx="3657600" cy="12700"/>
          </a:xfrm>
          <a:prstGeom prst="rect">
            <a:avLst/>
          </a:prstGeom>
          <a:noFill/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B70"/>
                </a:solidFill>
                <a:latin typeface="Times New Roman"/>
              </a:defRPr>
            </a:pPr>
            <a:r>
              <a:t>多智能体协作架构：六大核心组件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7295" cy="12700"/>
          </a:xfrm>
          <a:prstGeom prst="rect">
            <a:avLst/>
          </a:prstGeom>
          <a:noFill/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2C2C"/>
                </a:solidFill>
                <a:latin typeface="Helvetica"/>
              </a:defRPr>
            </a:pPr>
            <a:r>
              <a:t>• 智能大脑/AI调度中心：Master Agent统一指挥，任务拆解与资源分配</a:t>
            </a:r>
            <a:br/>
            <a:r>
              <a:t>• 数字审计员：安全校验与权限管控，高危操作双智能体验证</a:t>
            </a:r>
            <a:br/>
            <a:r>
              <a:t>• 人才数字孪生：自动抓取MES操作记录，生成技能画像与智能排班</a:t>
            </a:r>
            <a:br/>
            <a:r>
              <a:t>• 供应链控制塔：穿透供应商Web门户，实时抓取物流状态</a:t>
            </a:r>
            <a:br/>
            <a:r>
              <a:t>• 知识工程中心：录屏生成SOP，工艺知识沉淀与经验传承</a:t>
            </a:r>
            <a:br/>
            <a:r>
              <a:t>• 设备数字孪生：视觉识别老旧机床表盘，预测性维护与异常预警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336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3B70"/>
                </a:solidFill>
                <a:latin typeface="Helvetica"/>
              </a:defRPr>
            </a:pPr>
            <a:r>
              <a:t>关键洞察</a:t>
            </a:r>
            <a:br/>
            <a:r>
              <a:t>→ 核心原则：视觉即感知、数据不出域、技能即插件</a:t>
            </a:r>
            <a:br/>
            <a:r>
              <a:t>→ 部署模式：云端大脑+本地执行，兼顾算力与数据安全</a:t>
            </a:r>
            <a:br/>
            <a:r>
              <a:t>→ 韧性设计：单点故障自动降级，确保产线连续性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B0"/>
                </a:solidFill>
                <a:latin typeface="Helvetica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