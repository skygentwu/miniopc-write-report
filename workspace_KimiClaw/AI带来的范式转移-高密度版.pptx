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2743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0066CC"/>
                </a:solidFill>
                <a:latin typeface="微软雅黑"/>
              </a:defRPr>
            </a:pPr>
            <a:r>
              <a:t>inspur 浪潮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286000"/>
            <a:ext cx="106984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333333"/>
                </a:solidFill>
                <a:latin typeface="微软雅黑"/>
              </a:defRPr>
            </a:pPr>
            <a:r>
              <a:t>AI 带来的范式转移</a:t>
            </a:r>
          </a:p>
          <a:p>
            <a:pPr algn="l">
              <a:spcBef>
                <a:spcPts val="1600"/>
              </a:spcBef>
              <a:defRPr sz="2600">
                <a:solidFill>
                  <a:srgbClr val="666666"/>
                </a:solidFill>
                <a:latin typeface="微软雅黑"/>
              </a:defRPr>
            </a:pPr>
            <a:r>
              <a:t>中石油勘探院油气开采研究所智能化转型战略思考</a:t>
            </a:r>
          </a:p>
        </p:txBody>
      </p:sp>
      <p:sp>
        <p:nvSpPr>
          <p:cNvPr id="4" name="Isosceles Triangle 3"/>
          <p:cNvSpPr/>
          <p:nvPr/>
        </p:nvSpPr>
        <p:spPr>
          <a:xfrm rot="2700000">
            <a:off x="9601200" y="4114800"/>
            <a:ext cx="1828800" cy="1828800"/>
          </a:xfrm>
          <a:prstGeom prst="triangle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Isosceles Triangle 4"/>
          <p:cNvSpPr/>
          <p:nvPr/>
        </p:nvSpPr>
        <p:spPr>
          <a:xfrm rot="1800000">
            <a:off x="10972800" y="4754880"/>
            <a:ext cx="731520" cy="731520"/>
          </a:xfrm>
          <a:prstGeom prst="triangle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40080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66666"/>
                </a:solidFill>
                <a:latin typeface="微软雅黑"/>
              </a:defRPr>
            </a:pPr>
            <a:r>
              <a:t>未来，因潮澎湃  Inspur in Future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2743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0066CC"/>
                </a:solidFill>
                <a:latin typeface="微软雅黑"/>
              </a:defRPr>
            </a:pPr>
            <a:r>
              <a:t>inspur 浪潮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103120"/>
            <a:ext cx="182880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6800" b="1">
                <a:solidFill>
                  <a:srgbClr val="FF6600"/>
                </a:solidFill>
                <a:latin typeface="微软雅黑"/>
              </a:defRPr>
            </a:pPr>
            <a:r>
              <a:t>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200400"/>
            <a:ext cx="106984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333333"/>
                </a:solidFill>
                <a:latin typeface="微软雅黑"/>
              </a:defRPr>
            </a:pPr>
            <a:r>
              <a:t>从"感知"到"认知"：AI 能力的跃迁</a:t>
            </a:r>
          </a:p>
        </p:txBody>
      </p:sp>
      <p:sp>
        <p:nvSpPr>
          <p:cNvPr id="5" name="Isosceles Triangle 4"/>
          <p:cNvSpPr/>
          <p:nvPr/>
        </p:nvSpPr>
        <p:spPr>
          <a:xfrm rot="2700000">
            <a:off x="9601200" y="4114800"/>
            <a:ext cx="1828800" cy="1828800"/>
          </a:xfrm>
          <a:prstGeom prst="triangle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Isosceles Triangle 5"/>
          <p:cNvSpPr/>
          <p:nvPr/>
        </p:nvSpPr>
        <p:spPr>
          <a:xfrm rot="1800000">
            <a:off x="10972800" y="4754880"/>
            <a:ext cx="731520" cy="731520"/>
          </a:xfrm>
          <a:prstGeom prst="triangle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640080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66666"/>
                </a:solidFill>
                <a:latin typeface="微软雅黑"/>
              </a:defRPr>
            </a:pPr>
            <a:r>
              <a:t>未来，因潮澎湃  Inspur in Future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2743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0066CC"/>
                </a:solidFill>
                <a:latin typeface="微软雅黑"/>
              </a:defRPr>
            </a:pPr>
            <a:r>
              <a:t>inspur 浪潮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110642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066CC"/>
                </a:solidFill>
                <a:latin typeface="微软雅黑"/>
              </a:defRPr>
            </a:pPr>
            <a:r>
              <a:t>传统 AI vs 现代大模型：能力边界的突破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51560"/>
            <a:ext cx="110642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300"/>
              </a:spcAft>
              <a:defRPr sz="1600" b="1">
                <a:solidFill>
                  <a:srgbClr val="FF6600"/>
                </a:solidFill>
                <a:latin typeface="微软雅黑"/>
              </a:defRPr>
            </a:pPr>
            <a:r>
              <a:t>【传统 AI：感知智能时代】</a:t>
            </a:r>
          </a:p>
          <a:p>
            <a:pPr>
              <a:spcAft>
                <a:spcPts val="300"/>
              </a:spcAft>
              <a:defRPr sz="1600">
                <a:solidFill>
                  <a:srgbClr val="333333"/>
                </a:solidFill>
                <a:latin typeface="微软雅黑"/>
              </a:defRPr>
            </a:pPr>
            <a:r>
              <a:t>• 擅长：图像识别、语音转文字、数据分类、模式匹配</a:t>
            </a:r>
          </a:p>
          <a:p>
            <a:pPr>
              <a:spcAft>
                <a:spcPts val="300"/>
              </a:spcAft>
              <a:defRPr sz="1600">
                <a:solidFill>
                  <a:srgbClr val="333333"/>
                </a:solidFill>
                <a:latin typeface="微软雅黑"/>
              </a:defRPr>
            </a:pPr>
            <a:r>
              <a:t>• 局限：单点任务、缺乏推理、无法理解复杂上下文、难以处理模糊问题</a:t>
            </a:r>
          </a:p>
          <a:p>
            <a:pPr>
              <a:spcAft>
                <a:spcPts val="300"/>
              </a:spcAft>
              <a:defRPr sz="1600">
                <a:solidFill>
                  <a:srgbClr val="333333"/>
                </a:solidFill>
                <a:latin typeface="微软雅黑"/>
              </a:defRPr>
            </a:pPr>
            <a:r>
              <a:t>• 比喻：像一名训练有素的技工，只会特定工序，无法应对变化</a:t>
            </a:r>
          </a:p>
          <a:p>
            <a:pPr>
              <a:spcAft>
                <a:spcPts val="400"/>
              </a:spcAft>
            </a:pPr>
          </a:p>
          <a:p>
            <a:pPr>
              <a:spcBef>
                <a:spcPts val="800"/>
              </a:spcBef>
              <a:spcAft>
                <a:spcPts val="300"/>
              </a:spcAft>
              <a:defRPr sz="1600" b="1">
                <a:solidFill>
                  <a:srgbClr val="FF6600"/>
                </a:solidFill>
                <a:latin typeface="微软雅黑"/>
              </a:defRPr>
            </a:pPr>
            <a:r>
              <a:t>【现代大模型：认知智能时代】</a:t>
            </a:r>
          </a:p>
          <a:p>
            <a:pPr>
              <a:spcBef>
                <a:spcPts val="800"/>
              </a:spcBef>
              <a:spcAft>
                <a:spcPts val="300"/>
              </a:spcAft>
              <a:defRPr sz="1600" b="1">
                <a:solidFill>
                  <a:srgbClr val="FF6600"/>
                </a:solidFill>
                <a:latin typeface="微软雅黑"/>
              </a:defRPr>
            </a:pPr>
            <a:r>
              <a:t>▎自主感知：多源数据融合理解</a:t>
            </a:r>
          </a:p>
          <a:p>
            <a:pPr>
              <a:spcAft>
                <a:spcPts val="300"/>
              </a:spcAft>
              <a:defRPr sz="1600">
                <a:solidFill>
                  <a:srgbClr val="333333"/>
                </a:solidFill>
                <a:latin typeface="微软雅黑"/>
              </a:defRPr>
            </a:pPr>
            <a:r>
              <a:t>• 同时处理地震数据、测井曲线、生产日志、文献资料、设备传感器数据</a:t>
            </a:r>
          </a:p>
          <a:p>
            <a:pPr>
              <a:spcAft>
                <a:spcPts val="300"/>
              </a:spcAft>
              <a:defRPr sz="1600">
                <a:solidFill>
                  <a:srgbClr val="333333"/>
                </a:solidFill>
                <a:latin typeface="微软雅黑"/>
              </a:defRPr>
            </a:pPr>
            <a:r>
              <a:t>• 跨模态对齐：文本+图像+时序+空间数据统一语义理解</a:t>
            </a:r>
          </a:p>
          <a:p>
            <a:pPr>
              <a:spcAft>
                <a:spcPts val="300"/>
              </a:spcAft>
              <a:defRPr sz="1600">
                <a:solidFill>
                  <a:srgbClr val="333333"/>
                </a:solidFill>
                <a:latin typeface="微软雅黑"/>
              </a:defRPr>
            </a:pPr>
            <a:r>
              <a:t>• 案例：昆仑大模型可同时解析文本、图像、时序数据，实现多模态联合推理</a:t>
            </a:r>
          </a:p>
          <a:p>
            <a:pPr>
              <a:spcAft>
                <a:spcPts val="400"/>
              </a:spcAft>
            </a:pPr>
          </a:p>
          <a:p>
            <a:pPr>
              <a:spcBef>
                <a:spcPts val="800"/>
              </a:spcBef>
              <a:spcAft>
                <a:spcPts val="300"/>
              </a:spcAft>
              <a:defRPr sz="1600" b="1">
                <a:solidFill>
                  <a:srgbClr val="FF6600"/>
                </a:solidFill>
                <a:latin typeface="微软雅黑"/>
              </a:defRPr>
            </a:pPr>
            <a:r>
              <a:t>▎复杂推理：从"是什么"到"为什么"</a:t>
            </a:r>
          </a:p>
          <a:p>
            <a:pPr>
              <a:spcAft>
                <a:spcPts val="300"/>
              </a:spcAft>
              <a:defRPr sz="1600">
                <a:solidFill>
                  <a:srgbClr val="333333"/>
                </a:solidFill>
                <a:latin typeface="微软雅黑"/>
              </a:defRPr>
            </a:pPr>
            <a:r>
              <a:t>• 逻辑链推理：异常征兆 → 根因分析 → 处置建议 → 效果评估</a:t>
            </a:r>
          </a:p>
          <a:p>
            <a:pPr>
              <a:spcAft>
                <a:spcPts val="300"/>
              </a:spcAft>
              <a:defRPr sz="1600">
                <a:solidFill>
                  <a:srgbClr val="333333"/>
                </a:solidFill>
                <a:latin typeface="微软雅黑"/>
              </a:defRPr>
            </a:pPr>
            <a:r>
              <a:t>• 因果推断能力：区分相关性与因果性，避免经验陷阱</a:t>
            </a:r>
          </a:p>
          <a:p>
            <a:pPr>
              <a:spcAft>
                <a:spcPts val="300"/>
              </a:spcAft>
              <a:defRPr sz="1600">
                <a:solidFill>
                  <a:srgbClr val="333333"/>
                </a:solidFill>
                <a:latin typeface="微软雅黑"/>
              </a:defRPr>
            </a:pPr>
            <a:r>
              <a:t>• 案例：钻井风险预警准确率提升至93.8%，误报率降低60%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0080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66666"/>
                </a:solidFill>
                <a:latin typeface="微软雅黑"/>
              </a:defRPr>
            </a:pPr>
            <a:r>
              <a:t>未来，因潮澎湃  Inspur in Future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2743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0066CC"/>
                </a:solidFill>
                <a:latin typeface="微软雅黑"/>
              </a:defRPr>
            </a:pPr>
            <a:r>
              <a:t>inspur 浪潮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110642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066CC"/>
                </a:solidFill>
                <a:latin typeface="微软雅黑"/>
              </a:defRPr>
            </a:pPr>
            <a:r>
              <a:t>智能体（Agent）：从"工具"到"同事" (1/2)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51560"/>
            <a:ext cx="110642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300"/>
              </a:spcAft>
              <a:defRPr sz="1600" b="1">
                <a:solidFill>
                  <a:srgbClr val="FF6600"/>
                </a:solidFill>
                <a:latin typeface="微软雅黑"/>
              </a:defRPr>
            </a:pPr>
            <a:r>
              <a:t>【什么是智能体？】</a:t>
            </a:r>
          </a:p>
          <a:p>
            <a:pPr>
              <a:spcAft>
                <a:spcPts val="300"/>
              </a:spcAft>
              <a:defRPr sz="1600">
                <a:solidFill>
                  <a:srgbClr val="333333"/>
                </a:solidFill>
                <a:latin typeface="微软雅黑"/>
              </a:defRPr>
            </a:pPr>
            <a:r>
              <a:t>• 定义：具备"感知-决策-执行-学习"闭环能力的 AI 系统</a:t>
            </a:r>
          </a:p>
          <a:p>
            <a:pPr>
              <a:spcAft>
                <a:spcPts val="300"/>
              </a:spcAft>
              <a:defRPr sz="1600">
                <a:solidFill>
                  <a:srgbClr val="333333"/>
                </a:solidFill>
                <a:latin typeface="微软雅黑"/>
              </a:defRPr>
            </a:pPr>
            <a:r>
              <a:t>• 核心特征：自主性、反应性、主动性、社会性</a:t>
            </a:r>
          </a:p>
          <a:p>
            <a:pPr>
              <a:spcAft>
                <a:spcPts val="300"/>
              </a:spcAft>
              <a:defRPr sz="1600">
                <a:solidFill>
                  <a:srgbClr val="333333"/>
                </a:solidFill>
                <a:latin typeface="微软雅黑"/>
              </a:defRPr>
            </a:pPr>
            <a:r>
              <a:t>• 范式转变：从"人找工具"到"工具找人"、从"菜单操作"到"对话交互"</a:t>
            </a:r>
          </a:p>
          <a:p>
            <a:pPr>
              <a:spcAft>
                <a:spcPts val="400"/>
              </a:spcAft>
            </a:pPr>
          </a:p>
          <a:p>
            <a:pPr>
              <a:spcBef>
                <a:spcPts val="800"/>
              </a:spcBef>
              <a:spcAft>
                <a:spcPts val="300"/>
              </a:spcAft>
              <a:defRPr sz="1600" b="1">
                <a:solidFill>
                  <a:srgbClr val="FF6600"/>
                </a:solidFill>
                <a:latin typeface="微软雅黑"/>
              </a:defRPr>
            </a:pPr>
            <a:r>
              <a:t>【勘探院场景的智能体应用 - 标杆案例】</a:t>
            </a:r>
          </a:p>
          <a:p>
            <a:pPr>
              <a:spcBef>
                <a:spcPts val="800"/>
              </a:spcBef>
              <a:spcAft>
                <a:spcPts val="300"/>
              </a:spcAft>
              <a:defRPr sz="1600" b="1">
                <a:solidFill>
                  <a:srgbClr val="FF6600"/>
                </a:solidFill>
                <a:latin typeface="微软雅黑"/>
              </a:defRPr>
            </a:pPr>
            <a:r>
              <a:t>▎地质力学参数计算智能体（石化工程院）</a:t>
            </a:r>
          </a:p>
          <a:p>
            <a:pPr>
              <a:spcAft>
                <a:spcPts val="300"/>
              </a:spcAft>
              <a:defRPr sz="1600">
                <a:solidFill>
                  <a:srgbClr val="333333"/>
                </a:solidFill>
                <a:latin typeface="微软雅黑"/>
              </a:defRPr>
            </a:pPr>
            <a:r>
              <a:t>• 功能：语言指令驱动的高效精准计算与知识查询</a:t>
            </a:r>
          </a:p>
          <a:p>
            <a:pPr>
              <a:spcAft>
                <a:spcPts val="300"/>
              </a:spcAft>
              <a:defRPr sz="1600">
                <a:solidFill>
                  <a:srgbClr val="333333"/>
                </a:solidFill>
                <a:latin typeface="微软雅黑"/>
              </a:defRPr>
            </a:pPr>
            <a:r>
              <a:t>• 效果：效率提升2倍以上，算法调用准确率95%，人工干预减少70%</a:t>
            </a:r>
          </a:p>
          <a:p>
            <a:pPr>
              <a:spcAft>
                <a:spcPts val="400"/>
              </a:spcAft>
            </a:pPr>
          </a:p>
          <a:p>
            <a:pPr>
              <a:spcBef>
                <a:spcPts val="800"/>
              </a:spcBef>
              <a:spcAft>
                <a:spcPts val="300"/>
              </a:spcAft>
              <a:defRPr sz="1600" b="1">
                <a:solidFill>
                  <a:srgbClr val="FF6600"/>
                </a:solidFill>
                <a:latin typeface="微软雅黑"/>
              </a:defRPr>
            </a:pPr>
            <a:r>
              <a:t>▎钻井提速优化智能体</a:t>
            </a:r>
          </a:p>
          <a:p>
            <a:pPr>
              <a:spcAft>
                <a:spcPts val="300"/>
              </a:spcAft>
              <a:defRPr sz="1600">
                <a:solidFill>
                  <a:srgbClr val="333333"/>
                </a:solidFill>
                <a:latin typeface="微软雅黑"/>
              </a:defRPr>
            </a:pPr>
            <a:r>
              <a:t>• 功能：对话式风险处置、钻井参数优化、实时资料查询</a:t>
            </a:r>
          </a:p>
          <a:p>
            <a:pPr>
              <a:spcAft>
                <a:spcPts val="300"/>
              </a:spcAft>
              <a:defRPr sz="1600">
                <a:solidFill>
                  <a:srgbClr val="333333"/>
                </a:solidFill>
                <a:latin typeface="微软雅黑"/>
              </a:defRPr>
            </a:pPr>
            <a:r>
              <a:t>• 效果：风险处置措施与专家符合率&gt;80%，钻井效率提升15%</a:t>
            </a:r>
          </a:p>
          <a:p>
            <a:pPr>
              <a:spcAft>
                <a:spcPts val="400"/>
              </a:spcAft>
            </a:pPr>
          </a:p>
          <a:p>
            <a:pPr>
              <a:spcBef>
                <a:spcPts val="800"/>
              </a:spcBef>
              <a:spcAft>
                <a:spcPts val="300"/>
              </a:spcAft>
              <a:defRPr sz="1600" b="1">
                <a:solidFill>
                  <a:srgbClr val="FF6600"/>
                </a:solidFill>
                <a:latin typeface="微软雅黑"/>
              </a:defRPr>
            </a:pPr>
            <a:r>
              <a:t>▎钻井设计多智能体协同系统</a:t>
            </a:r>
          </a:p>
          <a:p>
            <a:pPr>
              <a:spcAft>
                <a:spcPts val="300"/>
              </a:spcAft>
              <a:defRPr sz="1600">
                <a:solidFill>
                  <a:srgbClr val="333333"/>
                </a:solidFill>
                <a:latin typeface="微软雅黑"/>
              </a:defRPr>
            </a:pPr>
            <a:r>
              <a:t>• 功能：20分钟内生成完整钻井设计方案（传统需2-3天）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0080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66666"/>
                </a:solidFill>
                <a:latin typeface="微软雅黑"/>
              </a:defRPr>
            </a:pPr>
            <a:r>
              <a:t>未来，因潮澎湃  Inspur in Future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2743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0066CC"/>
                </a:solidFill>
                <a:latin typeface="微软雅黑"/>
              </a:defRPr>
            </a:pPr>
            <a:r>
              <a:t>inspur 浪潮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110642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066CC"/>
                </a:solidFill>
                <a:latin typeface="微软雅黑"/>
              </a:defRPr>
            </a:pPr>
            <a:r>
              <a:t>智能体（Agent）：从"工具"到"同事" (2/2)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51560"/>
            <a:ext cx="110642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600">
                <a:solidFill>
                  <a:srgbClr val="333333"/>
                </a:solidFill>
                <a:latin typeface="微软雅黑"/>
              </a:defRPr>
            </a:pPr>
            <a:r>
              <a:t>• 效果：效率提升5倍，人工修正率&lt;15%，方案质量显著提升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0080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66666"/>
                </a:solidFill>
                <a:latin typeface="微软雅黑"/>
              </a:defRPr>
            </a:pPr>
            <a:r>
              <a:t>未来，因潮澎湃  Inspur in Future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2743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0066CC"/>
                </a:solidFill>
                <a:latin typeface="微软雅黑"/>
              </a:defRPr>
            </a:pPr>
            <a:r>
              <a:t>inspur 浪潮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110642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066CC"/>
                </a:solidFill>
                <a:latin typeface="微软雅黑"/>
              </a:defRPr>
            </a:pPr>
            <a:r>
              <a:t>范式转移的本质：从第三范式到第四范式 (1/2)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51560"/>
            <a:ext cx="110642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300"/>
              </a:spcAft>
              <a:defRPr sz="1600" b="1">
                <a:solidFill>
                  <a:srgbClr val="FF6600"/>
                </a:solidFill>
                <a:latin typeface="微软雅黑"/>
              </a:defRPr>
            </a:pPr>
            <a:r>
              <a:t>【科学研究的四种范式演进】</a:t>
            </a:r>
          </a:p>
          <a:p>
            <a:pPr>
              <a:spcAft>
                <a:spcPts val="300"/>
              </a:spcAft>
              <a:defRPr sz="1600">
                <a:solidFill>
                  <a:srgbClr val="333333"/>
                </a:solidFill>
                <a:latin typeface="微软雅黑"/>
              </a:defRPr>
            </a:pPr>
            <a:r>
              <a:t>• 第一范式（经验归纳）：实验科学——观察现象、总结经验定律</a:t>
            </a:r>
          </a:p>
          <a:p>
            <a:pPr>
              <a:spcAft>
                <a:spcPts val="300"/>
              </a:spcAft>
              <a:defRPr sz="1600">
                <a:solidFill>
                  <a:srgbClr val="333333"/>
                </a:solidFill>
                <a:latin typeface="微软雅黑"/>
              </a:defRPr>
            </a:pPr>
            <a:r>
              <a:t>• 第二范式（理论推演）：模型科学——建立数学模型、推导理论</a:t>
            </a:r>
          </a:p>
          <a:p>
            <a:pPr>
              <a:spcAft>
                <a:spcPts val="300"/>
              </a:spcAft>
              <a:defRPr sz="1600">
                <a:solidFill>
                  <a:srgbClr val="333333"/>
                </a:solidFill>
                <a:latin typeface="微软雅黑"/>
              </a:defRPr>
            </a:pPr>
            <a:r>
              <a:t>• 第三范式（计算模拟）：仿真科学——数值计算、计算机模拟</a:t>
            </a:r>
          </a:p>
          <a:p>
            <a:pPr>
              <a:spcAft>
                <a:spcPts val="300"/>
              </a:spcAft>
              <a:defRPr sz="1600">
                <a:solidFill>
                  <a:srgbClr val="333333"/>
                </a:solidFill>
                <a:latin typeface="微软雅黑"/>
              </a:defRPr>
            </a:pPr>
            <a:r>
              <a:t>• 第四范式（数据密集型）：AI科学——数据驱动发现、机器学习</a:t>
            </a:r>
          </a:p>
          <a:p>
            <a:pPr>
              <a:spcAft>
                <a:spcPts val="400"/>
              </a:spcAft>
            </a:pPr>
          </a:p>
          <a:p>
            <a:pPr>
              <a:spcBef>
                <a:spcPts val="800"/>
              </a:spcBef>
              <a:spcAft>
                <a:spcPts val="300"/>
              </a:spcAft>
              <a:defRPr sz="1600" b="1">
                <a:solidFill>
                  <a:srgbClr val="FF6600"/>
                </a:solidFill>
                <a:latin typeface="微软雅黑"/>
              </a:defRPr>
            </a:pPr>
            <a:r>
              <a:t>【油气行业的范式转移】</a:t>
            </a:r>
          </a:p>
          <a:p>
            <a:pPr>
              <a:spcBef>
                <a:spcPts val="800"/>
              </a:spcBef>
              <a:spcAft>
                <a:spcPts val="300"/>
              </a:spcAft>
              <a:defRPr sz="1600" b="1">
                <a:solidFill>
                  <a:srgbClr val="FF6600"/>
                </a:solidFill>
                <a:latin typeface="微软雅黑"/>
              </a:defRPr>
            </a:pPr>
            <a:r>
              <a:t>▎传统模式（第三范式）</a:t>
            </a:r>
          </a:p>
          <a:p>
            <a:pPr>
              <a:spcAft>
                <a:spcPts val="300"/>
              </a:spcAft>
              <a:defRPr sz="1600">
                <a:solidFill>
                  <a:srgbClr val="333333"/>
                </a:solidFill>
                <a:latin typeface="微软雅黑"/>
              </a:defRPr>
            </a:pPr>
            <a:r>
              <a:t>• 方法论：基于物理方程的数值模拟</a:t>
            </a:r>
          </a:p>
          <a:p>
            <a:pPr>
              <a:spcAft>
                <a:spcPts val="300"/>
              </a:spcAft>
              <a:defRPr sz="1600">
                <a:solidFill>
                  <a:srgbClr val="333333"/>
                </a:solidFill>
                <a:latin typeface="微软雅黑"/>
              </a:defRPr>
            </a:pPr>
            <a:r>
              <a:t>• 局限：计算周期长（数小时至数天）、参数调优依赖经验</a:t>
            </a:r>
          </a:p>
          <a:p>
            <a:pPr>
              <a:spcAft>
                <a:spcPts val="300"/>
              </a:spcAft>
              <a:defRPr sz="1600">
                <a:solidFill>
                  <a:srgbClr val="333333"/>
                </a:solidFill>
                <a:latin typeface="微软雅黑"/>
              </a:defRPr>
            </a:pPr>
            <a:r>
              <a:t>• 痛点："算得准但算得慢"，无法支撑实时决策</a:t>
            </a:r>
          </a:p>
          <a:p>
            <a:pPr>
              <a:spcAft>
                <a:spcPts val="400"/>
              </a:spcAft>
            </a:pPr>
          </a:p>
          <a:p>
            <a:pPr>
              <a:spcBef>
                <a:spcPts val="800"/>
              </a:spcBef>
              <a:spcAft>
                <a:spcPts val="300"/>
              </a:spcAft>
              <a:defRPr sz="1600" b="1">
                <a:solidFill>
                  <a:srgbClr val="FF6600"/>
                </a:solidFill>
                <a:latin typeface="微软雅黑"/>
              </a:defRPr>
            </a:pPr>
            <a:r>
              <a:t>▎新模式（第四范式）</a:t>
            </a:r>
          </a:p>
          <a:p>
            <a:pPr>
              <a:spcAft>
                <a:spcPts val="300"/>
              </a:spcAft>
              <a:defRPr sz="1600">
                <a:solidFill>
                  <a:srgbClr val="333333"/>
                </a:solidFill>
                <a:latin typeface="微软雅黑"/>
              </a:defRPr>
            </a:pPr>
            <a:r>
              <a:t>• 方法论：数据驱动 + 知识增强 + 智能决策</a:t>
            </a:r>
          </a:p>
          <a:p>
            <a:pPr>
              <a:spcAft>
                <a:spcPts val="300"/>
              </a:spcAft>
              <a:defRPr sz="1600">
                <a:solidFill>
                  <a:srgbClr val="333333"/>
                </a:solidFill>
                <a:latin typeface="微软雅黑"/>
              </a:defRPr>
            </a:pPr>
            <a:r>
              <a:t>• 优势：实时响应、自主学习、跨领域知识融合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0080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66666"/>
                </a:solidFill>
                <a:latin typeface="微软雅黑"/>
              </a:defRPr>
            </a:pPr>
            <a:r>
              <a:t>未来，因潮澎湃  Inspur in Future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2743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0066CC"/>
                </a:solidFill>
                <a:latin typeface="微软雅黑"/>
              </a:defRPr>
            </a:pPr>
            <a:r>
              <a:t>inspur 浪潮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110642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066CC"/>
                </a:solidFill>
                <a:latin typeface="微软雅黑"/>
              </a:defRPr>
            </a:pPr>
            <a:r>
              <a:t>范式转移的本质：从第三范式到第四范式 (2/2)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51560"/>
            <a:ext cx="110642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600">
                <a:solidFill>
                  <a:srgbClr val="333333"/>
                </a:solidFill>
                <a:latin typeface="微软雅黑"/>
              </a:defRPr>
            </a:pPr>
            <a:r>
              <a:t>• 突破：从"机理建模"到"数据+机理双驱动"</a:t>
            </a:r>
          </a:p>
          <a:p>
            <a:pPr>
              <a:spcAft>
                <a:spcPts val="400"/>
              </a:spcAft>
            </a:pPr>
          </a:p>
          <a:p>
            <a:pPr>
              <a:spcBef>
                <a:spcPts val="800"/>
              </a:spcBef>
              <a:spcAft>
                <a:spcPts val="300"/>
              </a:spcAft>
              <a:defRPr sz="1600" b="1">
                <a:solidFill>
                  <a:srgbClr val="FF6600"/>
                </a:solidFill>
                <a:latin typeface="微软雅黑"/>
              </a:defRPr>
            </a:pPr>
            <a:r>
              <a:t>【关键技术突破 - 昆仑大模型应用成效】</a:t>
            </a:r>
          </a:p>
          <a:p>
            <a:pPr>
              <a:spcAft>
                <a:spcPts val="300"/>
              </a:spcAft>
              <a:defRPr sz="1600">
                <a:solidFill>
                  <a:srgbClr val="333333"/>
                </a:solidFill>
                <a:latin typeface="微软雅黑"/>
              </a:defRPr>
            </a:pPr>
            <a:r>
              <a:t>• 地震资料处理：波动方程求解效率提升10倍，成像质量显著改善</a:t>
            </a:r>
          </a:p>
          <a:p>
            <a:pPr>
              <a:spcAft>
                <a:spcPts val="300"/>
              </a:spcAft>
              <a:defRPr sz="1600">
                <a:solidFill>
                  <a:srgbClr val="333333"/>
                </a:solidFill>
                <a:latin typeface="微软雅黑"/>
              </a:defRPr>
            </a:pPr>
            <a:r>
              <a:t>• 储层预测：50亿参数地震解释大模型，解释效率提升10倍以上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0080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66666"/>
                </a:solidFill>
                <a:latin typeface="微软雅黑"/>
              </a:defRPr>
            </a:pPr>
            <a:r>
              <a:t>未来，因潮澎湃  Inspur in Future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2743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0066CC"/>
                </a:solidFill>
                <a:latin typeface="微软雅黑"/>
              </a:defRPr>
            </a:pPr>
            <a:r>
              <a:t>inspur 浪潮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103120"/>
            <a:ext cx="182880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6800" b="1">
                <a:solidFill>
                  <a:srgbClr val="FF6600"/>
                </a:solidFill>
                <a:latin typeface="微软雅黑"/>
              </a:defRPr>
            </a:pPr>
            <a:r>
              <a:t>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200400"/>
            <a:ext cx="106984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333333"/>
                </a:solidFill>
                <a:latin typeface="微软雅黑"/>
              </a:defRPr>
            </a:pPr>
            <a:r>
              <a:t>核心价值主张：AI 赋能的三大解放</a:t>
            </a:r>
          </a:p>
        </p:txBody>
      </p:sp>
      <p:sp>
        <p:nvSpPr>
          <p:cNvPr id="5" name="Isosceles Triangle 4"/>
          <p:cNvSpPr/>
          <p:nvPr/>
        </p:nvSpPr>
        <p:spPr>
          <a:xfrm rot="2700000">
            <a:off x="9601200" y="4114800"/>
            <a:ext cx="1828800" cy="1828800"/>
          </a:xfrm>
          <a:prstGeom prst="triangle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Isosceles Triangle 5"/>
          <p:cNvSpPr/>
          <p:nvPr/>
        </p:nvSpPr>
        <p:spPr>
          <a:xfrm rot="1800000">
            <a:off x="10972800" y="4754880"/>
            <a:ext cx="731520" cy="731520"/>
          </a:xfrm>
          <a:prstGeom prst="triangle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640080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66666"/>
                </a:solidFill>
                <a:latin typeface="微软雅黑"/>
              </a:defRPr>
            </a:pPr>
            <a:r>
              <a:t>未来，因潮澎湃  Inspur in Future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2743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0066CC"/>
                </a:solidFill>
                <a:latin typeface="微软雅黑"/>
              </a:defRPr>
            </a:pPr>
            <a:r>
              <a:t>inspur 浪潮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110642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066CC"/>
                </a:solidFill>
                <a:latin typeface="微软雅黑"/>
              </a:defRPr>
            </a:pPr>
            <a:r>
              <a:t>解放一：专家生产力的彻底释放 (1/2)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51560"/>
            <a:ext cx="110642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300"/>
              </a:spcAft>
              <a:defRPr sz="1600" b="1">
                <a:solidFill>
                  <a:srgbClr val="FF6600"/>
                </a:solidFill>
                <a:latin typeface="微软雅黑"/>
              </a:defRPr>
            </a:pPr>
            <a:r>
              <a:t>【现状痛点：专家时间被严重浪费】</a:t>
            </a:r>
          </a:p>
          <a:p>
            <a:pPr>
              <a:spcAft>
                <a:spcPts val="300"/>
              </a:spcAft>
              <a:defRPr sz="1600">
                <a:solidFill>
                  <a:srgbClr val="333333"/>
                </a:solidFill>
                <a:latin typeface="微软雅黑"/>
              </a:defRPr>
            </a:pPr>
            <a:r>
              <a:t>• 时间分配：专家60-70%时间消耗在文献检索、数据整理、格式调整</a:t>
            </a:r>
          </a:p>
          <a:p>
            <a:pPr>
              <a:spcAft>
                <a:spcPts val="300"/>
              </a:spcAft>
              <a:defRPr sz="1600">
                <a:solidFill>
                  <a:srgbClr val="333333"/>
                </a:solidFill>
                <a:latin typeface="微软雅黑"/>
              </a:defRPr>
            </a:pPr>
            <a:r>
              <a:t>• 效率瓶颈：找一篇相关文献平均耗时30分钟，整理报告数据需2-3天</a:t>
            </a:r>
          </a:p>
          <a:p>
            <a:pPr>
              <a:spcAft>
                <a:spcPts val="300"/>
              </a:spcAft>
              <a:defRPr sz="1600">
                <a:solidFill>
                  <a:srgbClr val="333333"/>
                </a:solidFill>
                <a:latin typeface="微软雅黑"/>
              </a:defRPr>
            </a:pPr>
            <a:r>
              <a:t>• 创新挤压：重复性工作挤压了创造性思考空间</a:t>
            </a:r>
          </a:p>
          <a:p>
            <a:pPr>
              <a:spcAft>
                <a:spcPts val="400"/>
              </a:spcAft>
            </a:pPr>
          </a:p>
          <a:p>
            <a:pPr>
              <a:spcBef>
                <a:spcPts val="800"/>
              </a:spcBef>
              <a:spcAft>
                <a:spcPts val="300"/>
              </a:spcAft>
              <a:defRPr sz="1600" b="1">
                <a:solidFill>
                  <a:srgbClr val="FF6600"/>
                </a:solidFill>
                <a:latin typeface="微软雅黑"/>
              </a:defRPr>
            </a:pPr>
            <a:r>
              <a:t>【AI 解决方案：智能助手替代事务性工作】</a:t>
            </a:r>
          </a:p>
          <a:p>
            <a:pPr>
              <a:spcBef>
                <a:spcPts val="800"/>
              </a:spcBef>
              <a:spcAft>
                <a:spcPts val="300"/>
              </a:spcAft>
              <a:defRPr sz="1600" b="1">
                <a:solidFill>
                  <a:srgbClr val="FF6600"/>
                </a:solidFill>
                <a:latin typeface="微软雅黑"/>
              </a:defRPr>
            </a:pPr>
            <a:r>
              <a:t>▎智能文献助手（PetroAI已沉淀30万份文献）</a:t>
            </a:r>
          </a:p>
          <a:p>
            <a:pPr>
              <a:spcAft>
                <a:spcPts val="300"/>
              </a:spcAft>
              <a:defRPr sz="1600">
                <a:solidFill>
                  <a:srgbClr val="333333"/>
                </a:solidFill>
                <a:latin typeface="微软雅黑"/>
              </a:defRPr>
            </a:pPr>
            <a:r>
              <a:t>• 多模态文档智能解析：文字、表格、公式、专业图件统一理解</a:t>
            </a:r>
          </a:p>
          <a:p>
            <a:pPr>
              <a:spcAft>
                <a:spcPts val="300"/>
              </a:spcAft>
              <a:defRPr sz="1600">
                <a:solidFill>
                  <a:srgbClr val="333333"/>
                </a:solidFill>
                <a:latin typeface="微软雅黑"/>
              </a:defRPr>
            </a:pPr>
            <a:r>
              <a:t>• 知识图谱检索增强：覆盖油藏动态分析、CCUS等专业领域</a:t>
            </a:r>
          </a:p>
          <a:p>
            <a:pPr>
              <a:spcAft>
                <a:spcPts val="300"/>
              </a:spcAft>
              <a:defRPr sz="1600">
                <a:solidFill>
                  <a:srgbClr val="333333"/>
                </a:solidFill>
                <a:latin typeface="微软雅黑"/>
              </a:defRPr>
            </a:pPr>
            <a:r>
              <a:t>• 效果：文献综述时间从数天缩短至数小时</a:t>
            </a:r>
          </a:p>
          <a:p>
            <a:pPr>
              <a:spcAft>
                <a:spcPts val="400"/>
              </a:spcAft>
            </a:pPr>
          </a:p>
          <a:p>
            <a:pPr>
              <a:spcBef>
                <a:spcPts val="800"/>
              </a:spcBef>
              <a:spcAft>
                <a:spcPts val="300"/>
              </a:spcAft>
              <a:defRPr sz="1600" b="1">
                <a:solidFill>
                  <a:srgbClr val="FF6600"/>
                </a:solidFill>
                <a:latin typeface="微软雅黑"/>
              </a:defRPr>
            </a:pPr>
            <a:r>
              <a:t>▎智能报告生成（大庆"油博士"平台）</a:t>
            </a:r>
          </a:p>
          <a:p>
            <a:pPr>
              <a:spcAft>
                <a:spcPts val="300"/>
              </a:spcAft>
              <a:defRPr sz="1600">
                <a:solidFill>
                  <a:srgbClr val="333333"/>
                </a:solidFill>
                <a:latin typeface="微软雅黑"/>
              </a:defRPr>
            </a:pPr>
            <a:r>
              <a:t>• 自动提取多源数据：实时接入生产数据库、实验数据</a:t>
            </a:r>
          </a:p>
          <a:p>
            <a:pPr>
              <a:spcAft>
                <a:spcPts val="300"/>
              </a:spcAft>
              <a:defRPr sz="1600">
                <a:solidFill>
                  <a:srgbClr val="333333"/>
                </a:solidFill>
                <a:latin typeface="微软雅黑"/>
              </a:defRPr>
            </a:pPr>
            <a:r>
              <a:t>• 规范术语统一：自动识别并统一专业术语、单位、格式</a:t>
            </a:r>
          </a:p>
          <a:p>
            <a:pPr>
              <a:spcAft>
                <a:spcPts val="300"/>
              </a:spcAft>
              <a:defRPr sz="1600">
                <a:solidFill>
                  <a:srgbClr val="333333"/>
                </a:solidFill>
                <a:latin typeface="微软雅黑"/>
              </a:defRPr>
            </a:pPr>
            <a:r>
              <a:t>• 效果：报告编制效率提升60%以上，格式错误减少90%</a:t>
            </a:r>
          </a:p>
          <a:p>
            <a:pPr>
              <a:spcAft>
                <a:spcPts val="400"/>
              </a:spcAft>
            </a:pPr>
          </a:p>
        </p:txBody>
      </p:sp>
      <p:sp>
        <p:nvSpPr>
          <p:cNvPr id="5" name="TextBox 4"/>
          <p:cNvSpPr txBox="1"/>
          <p:nvPr/>
        </p:nvSpPr>
        <p:spPr>
          <a:xfrm>
            <a:off x="457200" y="640080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66666"/>
                </a:solidFill>
                <a:latin typeface="微软雅黑"/>
              </a:defRPr>
            </a:pPr>
            <a:r>
              <a:t>未来，因潮澎湃  Inspur in Future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2743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0066CC"/>
                </a:solidFill>
                <a:latin typeface="微软雅黑"/>
              </a:defRPr>
            </a:pPr>
            <a:r>
              <a:t>inspur 浪潮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110642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066CC"/>
                </a:solidFill>
                <a:latin typeface="微软雅黑"/>
              </a:defRPr>
            </a:pPr>
            <a:r>
              <a:t>解放一：专家生产力的彻底释放 (2/2)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51560"/>
            <a:ext cx="110642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300"/>
              </a:spcAft>
              <a:defRPr sz="1600" b="1">
                <a:solidFill>
                  <a:srgbClr val="FF6600"/>
                </a:solidFill>
                <a:latin typeface="微软雅黑"/>
              </a:defRPr>
            </a:pPr>
            <a:r>
              <a:t>【释放的价值：专家回归高价值工作】</a:t>
            </a:r>
          </a:p>
          <a:p>
            <a:pPr>
              <a:spcAft>
                <a:spcPts val="300"/>
              </a:spcAft>
              <a:defRPr sz="1600">
                <a:solidFill>
                  <a:srgbClr val="333333"/>
                </a:solidFill>
                <a:latin typeface="微软雅黑"/>
              </a:defRPr>
            </a:pPr>
            <a:r>
              <a:t>• 时间重构：从"事务性工作（70%）"转向"战略性创新（70%）"</a:t>
            </a:r>
          </a:p>
          <a:p>
            <a:pPr>
              <a:spcAft>
                <a:spcPts val="300"/>
              </a:spcAft>
              <a:defRPr sz="1600">
                <a:solidFill>
                  <a:srgbClr val="333333"/>
                </a:solidFill>
                <a:latin typeface="微软雅黑"/>
              </a:defRPr>
            </a:pPr>
            <a:r>
              <a:t>• 人才培养：新人培养周期从5-8年缩短至3-5年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0080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66666"/>
                </a:solidFill>
                <a:latin typeface="微软雅黑"/>
              </a:defRPr>
            </a:pPr>
            <a:r>
              <a:t>未来，因潮澎湃  Inspur in Future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2743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0066CC"/>
                </a:solidFill>
                <a:latin typeface="微软雅黑"/>
              </a:defRPr>
            </a:pPr>
            <a:r>
              <a:t>inspur 浪潮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110642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066CC"/>
                </a:solidFill>
                <a:latin typeface="微软雅黑"/>
              </a:defRPr>
            </a:pPr>
            <a:r>
              <a:t>解放二：跨学科数据壁垒的打破 (1/2)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51560"/>
            <a:ext cx="110642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300"/>
              </a:spcAft>
              <a:defRPr sz="1600" b="1">
                <a:solidFill>
                  <a:srgbClr val="FF6600"/>
                </a:solidFill>
                <a:latin typeface="微软雅黑"/>
              </a:defRPr>
            </a:pPr>
            <a:r>
              <a:t>【现状痛点：数据孤岛严重制约决策质量】</a:t>
            </a:r>
          </a:p>
          <a:p>
            <a:pPr>
              <a:spcAft>
                <a:spcPts val="300"/>
              </a:spcAft>
              <a:defRPr sz="1600">
                <a:solidFill>
                  <a:srgbClr val="333333"/>
                </a:solidFill>
                <a:latin typeface="微软雅黑"/>
              </a:defRPr>
            </a:pPr>
            <a:r>
              <a:t>• 学科壁垒：地震、地质、钻井、开发、生产各环节数据分散</a:t>
            </a:r>
          </a:p>
          <a:p>
            <a:pPr>
              <a:spcAft>
                <a:spcPts val="300"/>
              </a:spcAft>
              <a:defRPr sz="1600">
                <a:solidFill>
                  <a:srgbClr val="333333"/>
                </a:solidFill>
                <a:latin typeface="微软雅黑"/>
              </a:defRPr>
            </a:pPr>
            <a:r>
              <a:t>• 标准不一：数据格式、命名规范、单位制不统一</a:t>
            </a:r>
          </a:p>
          <a:p>
            <a:pPr>
              <a:spcAft>
                <a:spcPts val="300"/>
              </a:spcAft>
              <a:defRPr sz="1600">
                <a:solidFill>
                  <a:srgbClr val="333333"/>
                </a:solidFill>
                <a:latin typeface="微软雅黑"/>
              </a:defRPr>
            </a:pPr>
            <a:r>
              <a:t>• 决策片面：单学科视角导致决策局部最优</a:t>
            </a:r>
          </a:p>
          <a:p>
            <a:pPr>
              <a:spcAft>
                <a:spcPts val="400"/>
              </a:spcAft>
            </a:pPr>
          </a:p>
          <a:p>
            <a:pPr>
              <a:spcBef>
                <a:spcPts val="800"/>
              </a:spcBef>
              <a:spcAft>
                <a:spcPts val="300"/>
              </a:spcAft>
              <a:defRPr sz="1600" b="1">
                <a:solidFill>
                  <a:srgbClr val="FF6600"/>
                </a:solidFill>
                <a:latin typeface="微软雅黑"/>
              </a:defRPr>
            </a:pPr>
            <a:r>
              <a:t>【AI 解决方案：统一语义与多模态融合】</a:t>
            </a:r>
          </a:p>
          <a:p>
            <a:pPr>
              <a:spcBef>
                <a:spcPts val="800"/>
              </a:spcBef>
              <a:spcAft>
                <a:spcPts val="300"/>
              </a:spcAft>
              <a:defRPr sz="1600" b="1">
                <a:solidFill>
                  <a:srgbClr val="FF6600"/>
                </a:solidFill>
                <a:latin typeface="微软雅黑"/>
              </a:defRPr>
            </a:pPr>
            <a:r>
              <a:t>▎统一数据语义标准（中石油已建立完整标准体系）</a:t>
            </a:r>
          </a:p>
          <a:p>
            <a:pPr>
              <a:spcAft>
                <a:spcPts val="300"/>
              </a:spcAft>
              <a:defRPr sz="1600">
                <a:solidFill>
                  <a:srgbClr val="333333"/>
                </a:solidFill>
                <a:latin typeface="微软雅黑"/>
              </a:defRPr>
            </a:pPr>
            <a:r>
              <a:t>• 行业级标准：14项，涵盖数据交换格式、元数据规范</a:t>
            </a:r>
          </a:p>
          <a:p>
            <a:pPr>
              <a:spcAft>
                <a:spcPts val="300"/>
              </a:spcAft>
              <a:defRPr sz="1600">
                <a:solidFill>
                  <a:srgbClr val="333333"/>
                </a:solidFill>
                <a:latin typeface="微软雅黑"/>
              </a:defRPr>
            </a:pPr>
            <a:r>
              <a:t>• 专业级标准：11项，针对勘探、开发、工程等细分领域</a:t>
            </a:r>
          </a:p>
          <a:p>
            <a:pPr>
              <a:spcAft>
                <a:spcPts val="300"/>
              </a:spcAft>
              <a:defRPr sz="1600">
                <a:solidFill>
                  <a:srgbClr val="333333"/>
                </a:solidFill>
                <a:latin typeface="微软雅黑"/>
              </a:defRPr>
            </a:pPr>
            <a:r>
              <a:t>• 场景级标准：48项，覆盖具体业务场景的数据要求</a:t>
            </a:r>
          </a:p>
          <a:p>
            <a:pPr>
              <a:spcAft>
                <a:spcPts val="400"/>
              </a:spcAft>
            </a:pPr>
          </a:p>
          <a:p>
            <a:pPr>
              <a:spcBef>
                <a:spcPts val="800"/>
              </a:spcBef>
              <a:spcAft>
                <a:spcPts val="300"/>
              </a:spcAft>
              <a:defRPr sz="1600" b="1">
                <a:solidFill>
                  <a:srgbClr val="FF6600"/>
                </a:solidFill>
                <a:latin typeface="微软雅黑"/>
              </a:defRPr>
            </a:pPr>
            <a:r>
              <a:t>▎多模态数据融合技术</a:t>
            </a:r>
          </a:p>
          <a:p>
            <a:pPr>
              <a:spcAft>
                <a:spcPts val="300"/>
              </a:spcAft>
              <a:defRPr sz="1600">
                <a:solidFill>
                  <a:srgbClr val="333333"/>
                </a:solidFill>
                <a:latin typeface="微软雅黑"/>
              </a:defRPr>
            </a:pPr>
            <a:r>
              <a:t>• 统一编码：文本 + 图像 + 时序 + 空间数据统一嵌入向量空间</a:t>
            </a:r>
          </a:p>
          <a:p>
            <a:pPr>
              <a:spcAft>
                <a:spcPts val="300"/>
              </a:spcAft>
              <a:defRPr sz="1600">
                <a:solidFill>
                  <a:srgbClr val="333333"/>
                </a:solidFill>
                <a:latin typeface="微软雅黑"/>
              </a:defRPr>
            </a:pPr>
            <a:r>
              <a:t>• 跨模态对齐：地震图像与测井曲线的语义关联</a:t>
            </a:r>
          </a:p>
          <a:p>
            <a:pPr>
              <a:spcAft>
                <a:spcPts val="400"/>
              </a:spcAft>
            </a:pPr>
          </a:p>
          <a:p>
            <a:pPr>
              <a:spcBef>
                <a:spcPts val="800"/>
              </a:spcBef>
              <a:spcAft>
                <a:spcPts val="300"/>
              </a:spcAft>
              <a:defRPr sz="1600" b="1">
                <a:solidFill>
                  <a:srgbClr val="FF6600"/>
                </a:solidFill>
                <a:latin typeface="微软雅黑"/>
              </a:defRPr>
            </a:pPr>
            <a:r>
              <a:t>【典型应用场景：地质工程一体化】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0080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66666"/>
                </a:solidFill>
                <a:latin typeface="微软雅黑"/>
              </a:defRPr>
            </a:pPr>
            <a:r>
              <a:t>未来，因潮澎湃  Inspur in Future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2743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0066CC"/>
                </a:solidFill>
                <a:latin typeface="微软雅黑"/>
              </a:defRPr>
            </a:pPr>
            <a:r>
              <a:t>inspur 浪潮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110642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066CC"/>
                </a:solidFill>
                <a:latin typeface="微软雅黑"/>
              </a:defRPr>
            </a:pPr>
            <a:r>
              <a:t>解放二：跨学科数据壁垒的打破 (2/2)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51560"/>
            <a:ext cx="110642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600">
                <a:solidFill>
                  <a:srgbClr val="333333"/>
                </a:solidFill>
                <a:latin typeface="微软雅黑"/>
              </a:defRPr>
            </a:pPr>
            <a:r>
              <a:t>• 场景：地震数据+钻压采信息实时融合</a:t>
            </a:r>
          </a:p>
          <a:p>
            <a:pPr>
              <a:spcAft>
                <a:spcPts val="300"/>
              </a:spcAft>
              <a:defRPr sz="1600">
                <a:solidFill>
                  <a:srgbClr val="333333"/>
                </a:solidFill>
                <a:latin typeface="微软雅黑"/>
              </a:defRPr>
            </a:pPr>
            <a:r>
              <a:t>• 数模建模一体化：地质建模→数值模拟无缝衔接</a:t>
            </a:r>
          </a:p>
          <a:p>
            <a:pPr>
              <a:spcAft>
                <a:spcPts val="300"/>
              </a:spcAft>
              <a:defRPr sz="1600">
                <a:solidFill>
                  <a:srgbClr val="333333"/>
                </a:solidFill>
                <a:latin typeface="微软雅黑"/>
              </a:defRPr>
            </a:pPr>
            <a:r>
              <a:t>• 生产优化协同：油藏-井筒-地面全流程优化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0080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66666"/>
                </a:solidFill>
                <a:latin typeface="微软雅黑"/>
              </a:defRPr>
            </a:pPr>
            <a:r>
              <a:t>未来，因潮澎湃  Inspur in Future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2743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0066CC"/>
                </a:solidFill>
                <a:latin typeface="微软雅黑"/>
              </a:defRPr>
            </a:pPr>
            <a:r>
              <a:t>inspur 浪潮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110642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066CC"/>
                </a:solidFill>
                <a:latin typeface="微软雅黑"/>
              </a:defRPr>
            </a:pPr>
            <a:r>
              <a:t>解放三：全局最优决策的实现 (1/2)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51560"/>
            <a:ext cx="110642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300"/>
              </a:spcAft>
              <a:defRPr sz="1600" b="1">
                <a:solidFill>
                  <a:srgbClr val="FF6600"/>
                </a:solidFill>
                <a:latin typeface="微软雅黑"/>
              </a:defRPr>
            </a:pPr>
            <a:r>
              <a:t>【传统决策模式的三大局限】</a:t>
            </a:r>
          </a:p>
          <a:p>
            <a:pPr>
              <a:spcAft>
                <a:spcPts val="300"/>
              </a:spcAft>
              <a:defRPr sz="1600">
                <a:solidFill>
                  <a:srgbClr val="333333"/>
                </a:solidFill>
                <a:latin typeface="微软雅黑"/>
              </a:defRPr>
            </a:pPr>
            <a:r>
              <a:t>• 经验驱动：依赖专家直觉和个人经验，难以量化评估</a:t>
            </a:r>
          </a:p>
          <a:p>
            <a:pPr>
              <a:spcAft>
                <a:spcPts val="300"/>
              </a:spcAft>
              <a:defRPr sz="1600">
                <a:solidFill>
                  <a:srgbClr val="333333"/>
                </a:solidFill>
                <a:latin typeface="微软雅黑"/>
              </a:defRPr>
            </a:pPr>
            <a:r>
              <a:t>• 单点优化：各环节独立决策，缺乏全局视角</a:t>
            </a:r>
          </a:p>
          <a:p>
            <a:pPr>
              <a:spcAft>
                <a:spcPts val="300"/>
              </a:spcAft>
              <a:defRPr sz="1600">
                <a:solidFill>
                  <a:srgbClr val="333333"/>
                </a:solidFill>
                <a:latin typeface="微软雅黑"/>
              </a:defRPr>
            </a:pPr>
            <a:r>
              <a:t>• 响应滞后：传统数模计算周期长（数周），错过最佳时机</a:t>
            </a:r>
          </a:p>
          <a:p>
            <a:pPr>
              <a:spcAft>
                <a:spcPts val="400"/>
              </a:spcAft>
            </a:pPr>
          </a:p>
          <a:p>
            <a:pPr>
              <a:spcBef>
                <a:spcPts val="800"/>
              </a:spcBef>
              <a:spcAft>
                <a:spcPts val="300"/>
              </a:spcAft>
              <a:defRPr sz="1600" b="1">
                <a:solidFill>
                  <a:srgbClr val="FF6600"/>
                </a:solidFill>
                <a:latin typeface="微软雅黑"/>
              </a:defRPr>
            </a:pPr>
            <a:r>
              <a:t>【AI 驱动的智能决策体系】</a:t>
            </a:r>
          </a:p>
          <a:p>
            <a:pPr>
              <a:spcBef>
                <a:spcPts val="800"/>
              </a:spcBef>
              <a:spcAft>
                <a:spcPts val="300"/>
              </a:spcAft>
              <a:defRPr sz="1600" b="1">
                <a:solidFill>
                  <a:srgbClr val="FF6600"/>
                </a:solidFill>
                <a:latin typeface="微软雅黑"/>
              </a:defRPr>
            </a:pPr>
            <a:r>
              <a:t>▎实时决策支持：快速代理模型替代传统数模</a:t>
            </a:r>
          </a:p>
          <a:p>
            <a:pPr>
              <a:spcAft>
                <a:spcPts val="300"/>
              </a:spcAft>
              <a:defRPr sz="1600">
                <a:solidFill>
                  <a:srgbClr val="333333"/>
                </a:solidFill>
                <a:latin typeface="微软雅黑"/>
              </a:defRPr>
            </a:pPr>
            <a:r>
              <a:t>• 技术：神经网络代理模型（Surrogate Model）</a:t>
            </a:r>
          </a:p>
          <a:p>
            <a:pPr>
              <a:spcAft>
                <a:spcPts val="300"/>
              </a:spcAft>
              <a:defRPr sz="1600">
                <a:solidFill>
                  <a:srgbClr val="333333"/>
                </a:solidFill>
                <a:latin typeface="微软雅黑"/>
              </a:defRPr>
            </a:pPr>
            <a:r>
              <a:t>• 速度：从数周缩短至分钟级，支持实时决策</a:t>
            </a:r>
          </a:p>
          <a:p>
            <a:pPr>
              <a:spcAft>
                <a:spcPts val="300"/>
              </a:spcAft>
              <a:defRPr sz="1600">
                <a:solidFill>
                  <a:srgbClr val="333333"/>
                </a:solidFill>
                <a:latin typeface="微软雅黑"/>
              </a:defRPr>
            </a:pPr>
            <a:r>
              <a:t>• 精度：与数模结果吻合度&gt;95%</a:t>
            </a:r>
          </a:p>
          <a:p>
            <a:pPr>
              <a:spcAft>
                <a:spcPts val="400"/>
              </a:spcAft>
            </a:pPr>
          </a:p>
          <a:p>
            <a:pPr>
              <a:spcBef>
                <a:spcPts val="800"/>
              </a:spcBef>
              <a:spcAft>
                <a:spcPts val="300"/>
              </a:spcAft>
              <a:defRPr sz="1600" b="1">
                <a:solidFill>
                  <a:srgbClr val="FF6600"/>
                </a:solidFill>
                <a:latin typeface="微软雅黑"/>
              </a:defRPr>
            </a:pPr>
            <a:r>
              <a:t>▎风险预警与预测：从事后处置到事前预防</a:t>
            </a:r>
          </a:p>
          <a:p>
            <a:pPr>
              <a:spcAft>
                <a:spcPts val="300"/>
              </a:spcAft>
              <a:defRPr sz="1600">
                <a:solidFill>
                  <a:srgbClr val="333333"/>
                </a:solidFill>
                <a:latin typeface="微软雅黑"/>
              </a:defRPr>
            </a:pPr>
            <a:r>
              <a:t>• 钻井风险预警：卡钻、漏失、溢流提前预警（准确率&gt;90%）</a:t>
            </a:r>
          </a:p>
          <a:p>
            <a:pPr>
              <a:spcAft>
                <a:spcPts val="300"/>
              </a:spcAft>
              <a:defRPr sz="1600">
                <a:solidFill>
                  <a:srgbClr val="333333"/>
                </a:solidFill>
                <a:latin typeface="微软雅黑"/>
              </a:defRPr>
            </a:pPr>
            <a:r>
              <a:t>• 设备故障预测：基于振动、温度数据，非计划停机减少30%</a:t>
            </a:r>
          </a:p>
          <a:p>
            <a:pPr>
              <a:spcAft>
                <a:spcPts val="400"/>
              </a:spcAft>
            </a:pPr>
          </a:p>
          <a:p>
            <a:pPr>
              <a:spcBef>
                <a:spcPts val="800"/>
              </a:spcBef>
              <a:spcAft>
                <a:spcPts val="300"/>
              </a:spcAft>
              <a:defRPr sz="1600" b="1">
                <a:solidFill>
                  <a:srgbClr val="FF6600"/>
                </a:solidFill>
                <a:latin typeface="微软雅黑"/>
              </a:defRPr>
            </a:pPr>
            <a:r>
              <a:t>【标杆案例与量化成效】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0080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66666"/>
                </a:solidFill>
                <a:latin typeface="微软雅黑"/>
              </a:defRPr>
            </a:pPr>
            <a:r>
              <a:t>未来，因潮澎湃  Inspur in Future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2743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0066CC"/>
                </a:solidFill>
                <a:latin typeface="微软雅黑"/>
              </a:defRPr>
            </a:pPr>
            <a:r>
              <a:t>inspur 浪潮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110642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066CC"/>
                </a:solidFill>
                <a:latin typeface="微软雅黑"/>
              </a:defRPr>
            </a:pPr>
            <a:r>
              <a:t>解放三：全局最优决策的实现 (2/2)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51560"/>
            <a:ext cx="110642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600">
                <a:solidFill>
                  <a:srgbClr val="333333"/>
                </a:solidFill>
                <a:latin typeface="微软雅黑"/>
              </a:defRPr>
            </a:pPr>
            <a:r>
              <a:t>• 新疆油田：异常工况诊断准确率93.8%，减少作业维护费用20%</a:t>
            </a:r>
          </a:p>
          <a:p>
            <a:pPr>
              <a:spcAft>
                <a:spcPts val="300"/>
              </a:spcAft>
              <a:defRPr sz="1600">
                <a:solidFill>
                  <a:srgbClr val="333333"/>
                </a:solidFill>
                <a:latin typeface="微软雅黑"/>
              </a:defRPr>
            </a:pPr>
            <a:r>
              <a:t>• 苏里格气田：综合递减率从32%降至7%，稳产6年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0080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66666"/>
                </a:solidFill>
                <a:latin typeface="微软雅黑"/>
              </a:defRPr>
            </a:pPr>
            <a:r>
              <a:t>未来，因潮澎湃  Inspur in Future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2743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0066CC"/>
                </a:solidFill>
                <a:latin typeface="微软雅黑"/>
              </a:defRPr>
            </a:pPr>
            <a:r>
              <a:t>inspur 浪潮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103120"/>
            <a:ext cx="182880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6800" b="1">
                <a:solidFill>
                  <a:srgbClr val="FF6600"/>
                </a:solidFill>
                <a:latin typeface="微软雅黑"/>
              </a:defRPr>
            </a:pPr>
            <a:r>
              <a:t>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200400"/>
            <a:ext cx="106984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333333"/>
                </a:solidFill>
                <a:latin typeface="微软雅黑"/>
              </a:defRPr>
            </a:pPr>
            <a:r>
              <a:t>"一把手工程"：战略级决策</a:t>
            </a:r>
          </a:p>
        </p:txBody>
      </p:sp>
      <p:sp>
        <p:nvSpPr>
          <p:cNvPr id="5" name="Isosceles Triangle 4"/>
          <p:cNvSpPr/>
          <p:nvPr/>
        </p:nvSpPr>
        <p:spPr>
          <a:xfrm rot="2700000">
            <a:off x="9601200" y="4114800"/>
            <a:ext cx="1828800" cy="1828800"/>
          </a:xfrm>
          <a:prstGeom prst="triangle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Isosceles Triangle 5"/>
          <p:cNvSpPr/>
          <p:nvPr/>
        </p:nvSpPr>
        <p:spPr>
          <a:xfrm rot="1800000">
            <a:off x="10972800" y="4754880"/>
            <a:ext cx="731520" cy="731520"/>
          </a:xfrm>
          <a:prstGeom prst="triangle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640080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66666"/>
                </a:solidFill>
                <a:latin typeface="微软雅黑"/>
              </a:defRPr>
            </a:pPr>
            <a:r>
              <a:t>未来，因潮澎湃  Inspur in Future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2743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0066CC"/>
                </a:solidFill>
                <a:latin typeface="微软雅黑"/>
              </a:defRPr>
            </a:pPr>
            <a:r>
              <a:t>inspur 浪潮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110642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066CC"/>
                </a:solidFill>
                <a:latin typeface="微软雅黑"/>
              </a:defRPr>
            </a:pPr>
            <a:r>
              <a:t>为什么必须是"一把手工程"？ (1/2)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51560"/>
            <a:ext cx="110642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300"/>
              </a:spcAft>
              <a:defRPr sz="1600" b="1">
                <a:solidFill>
                  <a:srgbClr val="FF6600"/>
                </a:solidFill>
                <a:latin typeface="微软雅黑"/>
              </a:defRPr>
            </a:pPr>
            <a:r>
              <a:t>【AI 转型的特殊性：三大挑战】</a:t>
            </a:r>
          </a:p>
          <a:p>
            <a:pPr>
              <a:spcBef>
                <a:spcPts val="800"/>
              </a:spcBef>
              <a:spcAft>
                <a:spcPts val="300"/>
              </a:spcAft>
              <a:defRPr sz="1600" b="1">
                <a:solidFill>
                  <a:srgbClr val="FF6600"/>
                </a:solidFill>
                <a:latin typeface="微软雅黑"/>
              </a:defRPr>
            </a:pPr>
            <a:r>
              <a:t>▎跨部门协同难度大——需要"一把手"统筹</a:t>
            </a:r>
          </a:p>
          <a:p>
            <a:pPr>
              <a:spcAft>
                <a:spcPts val="300"/>
              </a:spcAft>
              <a:defRPr sz="1600">
                <a:solidFill>
                  <a:srgbClr val="333333"/>
                </a:solidFill>
                <a:latin typeface="微软雅黑"/>
              </a:defRPr>
            </a:pPr>
            <a:r>
              <a:t>• 涉及部门：科研、生产、IT、管理、财务、人力等多部门</a:t>
            </a:r>
          </a:p>
          <a:p>
            <a:pPr>
              <a:spcAft>
                <a:spcPts val="300"/>
              </a:spcAft>
              <a:defRPr sz="1600">
                <a:solidFill>
                  <a:srgbClr val="333333"/>
                </a:solidFill>
                <a:latin typeface="微软雅黑"/>
              </a:defRPr>
            </a:pPr>
            <a:r>
              <a:t>• 打破壁垒：需要打破部门墙，统筹数据资源</a:t>
            </a:r>
          </a:p>
          <a:p>
            <a:pPr>
              <a:spcAft>
                <a:spcPts val="300"/>
              </a:spcAft>
              <a:defRPr sz="1600">
                <a:solidFill>
                  <a:srgbClr val="333333"/>
                </a:solidFill>
                <a:latin typeface="微软雅黑"/>
              </a:defRPr>
            </a:pPr>
            <a:r>
              <a:t>• 利益协调：改变既有工作流程，可能触动部门利益</a:t>
            </a:r>
          </a:p>
          <a:p>
            <a:pPr>
              <a:spcAft>
                <a:spcPts val="300"/>
              </a:spcAft>
              <a:defRPr sz="1600">
                <a:solidFill>
                  <a:srgbClr val="333333"/>
                </a:solidFill>
                <a:latin typeface="微软雅黑"/>
              </a:defRPr>
            </a:pPr>
            <a:r>
              <a:t>• 结论：只有一把手能协调全局、平衡利益、推动变革</a:t>
            </a:r>
          </a:p>
          <a:p>
            <a:pPr>
              <a:spcAft>
                <a:spcPts val="400"/>
              </a:spcAft>
            </a:pPr>
          </a:p>
          <a:p>
            <a:pPr>
              <a:spcBef>
                <a:spcPts val="800"/>
              </a:spcBef>
              <a:spcAft>
                <a:spcPts val="300"/>
              </a:spcAft>
              <a:defRPr sz="1600" b="1">
                <a:solidFill>
                  <a:srgbClr val="FF6600"/>
                </a:solidFill>
                <a:latin typeface="微软雅黑"/>
              </a:defRPr>
            </a:pPr>
            <a:r>
              <a:t>▎战略投资规模大——需要"一把手"决策</a:t>
            </a:r>
          </a:p>
          <a:p>
            <a:pPr>
              <a:spcAft>
                <a:spcPts val="300"/>
              </a:spcAft>
              <a:defRPr sz="1600">
                <a:solidFill>
                  <a:srgbClr val="333333"/>
                </a:solidFill>
                <a:latin typeface="微软雅黑"/>
              </a:defRPr>
            </a:pPr>
            <a:r>
              <a:t>• 算力建设：昆仑大模型高峰算力达1950P，投资数十亿元</a:t>
            </a:r>
          </a:p>
          <a:p>
            <a:pPr>
              <a:spcAft>
                <a:spcPts val="300"/>
              </a:spcAft>
              <a:defRPr sz="1600">
                <a:solidFill>
                  <a:srgbClr val="333333"/>
                </a:solidFill>
                <a:latin typeface="微软雅黑"/>
              </a:defRPr>
            </a:pPr>
            <a:r>
              <a:t>• 数据治理：550TB数据集治理、数万条标注标准制定</a:t>
            </a:r>
          </a:p>
          <a:p>
            <a:pPr>
              <a:spcAft>
                <a:spcPts val="300"/>
              </a:spcAft>
              <a:defRPr sz="1600">
                <a:solidFill>
                  <a:srgbClr val="333333"/>
                </a:solidFill>
                <a:latin typeface="微软雅黑"/>
              </a:defRPr>
            </a:pPr>
            <a:r>
              <a:t>• 人才队伍：需要培养复合型AI人才</a:t>
            </a:r>
          </a:p>
          <a:p>
            <a:pPr>
              <a:spcAft>
                <a:spcPts val="400"/>
              </a:spcAft>
            </a:pPr>
          </a:p>
          <a:p>
            <a:pPr>
              <a:spcBef>
                <a:spcPts val="800"/>
              </a:spcBef>
              <a:spcAft>
                <a:spcPts val="300"/>
              </a:spcAft>
              <a:defRPr sz="1600" b="1">
                <a:solidFill>
                  <a:srgbClr val="FF6600"/>
                </a:solidFill>
                <a:latin typeface="微软雅黑"/>
              </a:defRPr>
            </a:pPr>
            <a:r>
              <a:t>▎组织变革深度高——需要"一把手"背书</a:t>
            </a:r>
          </a:p>
          <a:p>
            <a:pPr>
              <a:spcAft>
                <a:spcPts val="300"/>
              </a:spcAft>
              <a:defRPr sz="1600">
                <a:solidFill>
                  <a:srgbClr val="333333"/>
                </a:solidFill>
                <a:latin typeface="微软雅黑"/>
              </a:defRPr>
            </a:pPr>
            <a:r>
              <a:t>• 文化转变：从"经验驱动"到"数据驱动"，改变数十年工作习惯</a:t>
            </a:r>
          </a:p>
          <a:p>
            <a:pPr>
              <a:spcAft>
                <a:spcPts val="300"/>
              </a:spcAft>
              <a:defRPr sz="1600">
                <a:solidFill>
                  <a:srgbClr val="333333"/>
                </a:solidFill>
                <a:latin typeface="微软雅黑"/>
              </a:defRPr>
            </a:pPr>
            <a:r>
              <a:t>• 流程重构：智能体替代传统岗位，涉及人员调整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0080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66666"/>
                </a:solidFill>
                <a:latin typeface="微软雅黑"/>
              </a:defRPr>
            </a:pPr>
            <a:r>
              <a:t>未来，因潮澎湃  Inspur in Future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2743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0066CC"/>
                </a:solidFill>
                <a:latin typeface="微软雅黑"/>
              </a:defRPr>
            </a:pPr>
            <a:r>
              <a:t>inspur 浪潮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110642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066CC"/>
                </a:solidFill>
                <a:latin typeface="微软雅黑"/>
              </a:defRPr>
            </a:pPr>
            <a:r>
              <a:t>为什么必须是"一把手工程"？ (2/2)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51560"/>
            <a:ext cx="110642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600">
                <a:solidFill>
                  <a:srgbClr val="333333"/>
                </a:solidFill>
                <a:latin typeface="微软雅黑"/>
              </a:defRPr>
            </a:pPr>
            <a:r>
              <a:t>• 风险容忍：AI项目有试错成本，需要一把手担责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0080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66666"/>
                </a:solidFill>
                <a:latin typeface="微软雅黑"/>
              </a:defRPr>
            </a:pPr>
            <a:r>
              <a:t>未来，因潮澎湃  Inspur in Future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2743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0066CC"/>
                </a:solidFill>
                <a:latin typeface="微软雅黑"/>
              </a:defRPr>
            </a:pPr>
            <a:r>
              <a:t>inspur 浪潮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110642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066CC"/>
                </a:solidFill>
                <a:latin typeface="微软雅黑"/>
              </a:defRPr>
            </a:pPr>
            <a:r>
              <a:t>决定未来十年核心竞争力 (1/2)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51560"/>
            <a:ext cx="110642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300"/>
              </a:spcAft>
              <a:defRPr sz="1600" b="1">
                <a:solidFill>
                  <a:srgbClr val="FF6600"/>
                </a:solidFill>
                <a:latin typeface="微软雅黑"/>
              </a:defRPr>
            </a:pPr>
            <a:r>
              <a:t>【行业竞争态势：全球油气行业AI军备竞赛】</a:t>
            </a:r>
          </a:p>
          <a:p>
            <a:pPr>
              <a:spcAft>
                <a:spcPts val="300"/>
              </a:spcAft>
              <a:defRPr sz="1600">
                <a:solidFill>
                  <a:srgbClr val="333333"/>
                </a:solidFill>
                <a:latin typeface="微软雅黑"/>
              </a:defRPr>
            </a:pPr>
            <a:r>
              <a:t>• 国际油服巨头：斯伦贝谢、哈里伯顿已布局AI+数字孪生</a:t>
            </a:r>
          </a:p>
          <a:p>
            <a:pPr>
              <a:spcAft>
                <a:spcPts val="300"/>
              </a:spcAft>
              <a:defRPr sz="1600">
                <a:solidFill>
                  <a:srgbClr val="333333"/>
                </a:solidFill>
                <a:latin typeface="微软雅黑"/>
              </a:defRPr>
            </a:pPr>
            <a:r>
              <a:t>• 国内"三桶油"全面布局：</a:t>
            </a:r>
          </a:p>
          <a:p>
            <a:pPr>
              <a:spcAft>
                <a:spcPts val="300"/>
              </a:spcAft>
              <a:defRPr sz="1600">
                <a:solidFill>
                  <a:srgbClr val="333333"/>
                </a:solidFill>
                <a:latin typeface="微软雅黑"/>
              </a:defRPr>
            </a:pPr>
            <a:r>
              <a:t>  → 中石油：昆仑大模型、PetroAI、认知计算平台</a:t>
            </a:r>
          </a:p>
          <a:p>
            <a:pPr>
              <a:spcAft>
                <a:spcPts val="300"/>
              </a:spcAft>
              <a:defRPr sz="1600">
                <a:solidFill>
                  <a:srgbClr val="333333"/>
                </a:solidFill>
                <a:latin typeface="微软雅黑"/>
              </a:defRPr>
            </a:pPr>
            <a:r>
              <a:t>  → 中石化：长城大模型、"胜小利"、60个AI场景</a:t>
            </a:r>
          </a:p>
          <a:p>
            <a:pPr>
              <a:spcAft>
                <a:spcPts val="300"/>
              </a:spcAft>
              <a:defRPr sz="1600">
                <a:solidFill>
                  <a:srgbClr val="333333"/>
                </a:solidFill>
                <a:latin typeface="微软雅黑"/>
              </a:defRPr>
            </a:pPr>
            <a:r>
              <a:t>  → 中海油："海能"平台接入DeepSeek-R1</a:t>
            </a:r>
          </a:p>
          <a:p>
            <a:pPr>
              <a:spcAft>
                <a:spcPts val="400"/>
              </a:spcAft>
            </a:pPr>
          </a:p>
          <a:p>
            <a:pPr>
              <a:spcBef>
                <a:spcPts val="800"/>
              </a:spcBef>
              <a:spcAft>
                <a:spcPts val="300"/>
              </a:spcAft>
              <a:defRPr sz="1600" b="1">
                <a:solidFill>
                  <a:srgbClr val="FF6600"/>
                </a:solidFill>
                <a:latin typeface="微软雅黑"/>
              </a:defRPr>
            </a:pPr>
            <a:r>
              <a:t>【不拥抱AI的四大后果：落后即出局】</a:t>
            </a:r>
          </a:p>
          <a:p>
            <a:pPr>
              <a:spcAft>
                <a:spcPts val="300"/>
              </a:spcAft>
              <a:defRPr sz="1600">
                <a:solidFill>
                  <a:srgbClr val="333333"/>
                </a:solidFill>
                <a:latin typeface="微软雅黑"/>
              </a:defRPr>
            </a:pPr>
            <a:r>
              <a:t>• 效率劣势：传统方法效率仅为AI方法的1/5-1/10</a:t>
            </a:r>
          </a:p>
          <a:p>
            <a:pPr>
              <a:spcAft>
                <a:spcPts val="300"/>
              </a:spcAft>
              <a:defRPr sz="1600">
                <a:solidFill>
                  <a:srgbClr val="333333"/>
                </a:solidFill>
                <a:latin typeface="微软雅黑"/>
              </a:defRPr>
            </a:pPr>
            <a:r>
              <a:t>• 人才流失：年轻科研人员流向数智化领先企业</a:t>
            </a:r>
          </a:p>
          <a:p>
            <a:pPr>
              <a:spcAft>
                <a:spcPts val="300"/>
              </a:spcAft>
              <a:defRPr sz="1600">
                <a:solidFill>
                  <a:srgbClr val="333333"/>
                </a:solidFill>
                <a:latin typeface="微软雅黑"/>
              </a:defRPr>
            </a:pPr>
            <a:r>
              <a:t>• 决策滞后：错失勘探开发最佳时机</a:t>
            </a:r>
          </a:p>
          <a:p>
            <a:pPr>
              <a:spcAft>
                <a:spcPts val="300"/>
              </a:spcAft>
              <a:defRPr sz="1600">
                <a:solidFill>
                  <a:srgbClr val="333333"/>
                </a:solidFill>
                <a:latin typeface="微软雅黑"/>
              </a:defRPr>
            </a:pPr>
            <a:r>
              <a:t>• 成本劣势：单井开发成本差距拉大10-15%</a:t>
            </a:r>
          </a:p>
          <a:p>
            <a:pPr>
              <a:spcAft>
                <a:spcPts val="400"/>
              </a:spcAft>
            </a:pPr>
          </a:p>
          <a:p>
            <a:pPr>
              <a:spcBef>
                <a:spcPts val="800"/>
              </a:spcBef>
              <a:spcAft>
                <a:spcPts val="300"/>
              </a:spcAft>
              <a:defRPr sz="1600" b="1">
                <a:solidFill>
                  <a:srgbClr val="FF6600"/>
                </a:solidFill>
                <a:latin typeface="微软雅黑"/>
              </a:defRPr>
            </a:pPr>
            <a:r>
              <a:t>【拥抱AI的三大战略价值：赢得未来】</a:t>
            </a:r>
          </a:p>
          <a:p>
            <a:pPr>
              <a:spcAft>
                <a:spcPts val="300"/>
              </a:spcAft>
              <a:defRPr sz="1600">
                <a:solidFill>
                  <a:srgbClr val="333333"/>
                </a:solidFill>
                <a:latin typeface="微软雅黑"/>
              </a:defRPr>
            </a:pPr>
            <a:r>
              <a:t>• 技术领先：抢占"AI+油气"技术制高点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0080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66666"/>
                </a:solidFill>
                <a:latin typeface="微软雅黑"/>
              </a:defRPr>
            </a:pPr>
            <a:r>
              <a:t>未来，因潮澎湃  Inspur in Future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2743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0066CC"/>
                </a:solidFill>
                <a:latin typeface="微软雅黑"/>
              </a:defRPr>
            </a:pPr>
            <a:r>
              <a:t>inspur 浪潮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110642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066CC"/>
                </a:solidFill>
                <a:latin typeface="微软雅黑"/>
              </a:defRPr>
            </a:pPr>
            <a:r>
              <a:t>决定未来十年核心竞争力 (2/2)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51560"/>
            <a:ext cx="110642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600">
                <a:solidFill>
                  <a:srgbClr val="333333"/>
                </a:solidFill>
                <a:latin typeface="微软雅黑"/>
              </a:defRPr>
            </a:pPr>
            <a:r>
              <a:t>• 人才高地：吸引顶尖AI+地学复合人才</a:t>
            </a:r>
          </a:p>
          <a:p>
            <a:pPr>
              <a:spcAft>
                <a:spcPts val="300"/>
              </a:spcAft>
              <a:defRPr sz="1600">
                <a:solidFill>
                  <a:srgbClr val="333333"/>
                </a:solidFill>
                <a:latin typeface="微软雅黑"/>
              </a:defRPr>
            </a:pPr>
            <a:r>
              <a:t>• 决策优势：实时全局优化，快速响应市场变化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0080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66666"/>
                </a:solidFill>
                <a:latin typeface="微软雅黑"/>
              </a:defRPr>
            </a:pPr>
            <a:r>
              <a:t>未来，因潮澎湃  Inspur in Future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2743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0066CC"/>
                </a:solidFill>
                <a:latin typeface="微软雅黑"/>
              </a:defRPr>
            </a:pPr>
            <a:r>
              <a:t>inspur 浪潮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110642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066CC"/>
                </a:solidFill>
                <a:latin typeface="微软雅黑"/>
              </a:defRPr>
            </a:pPr>
            <a:r>
              <a:t>勘探院的行动路径：三年规划 (1/2)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51560"/>
            <a:ext cx="110642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300"/>
              </a:spcAft>
              <a:defRPr sz="1600" b="1">
                <a:solidFill>
                  <a:srgbClr val="FF6600"/>
                </a:solidFill>
                <a:latin typeface="微软雅黑"/>
              </a:defRPr>
            </a:pPr>
            <a:r>
              <a:t>【已具备的基础：不是从零开始】</a:t>
            </a:r>
          </a:p>
          <a:p>
            <a:pPr>
              <a:spcAft>
                <a:spcPts val="300"/>
              </a:spcAft>
              <a:defRPr sz="1600">
                <a:solidFill>
                  <a:srgbClr val="333333"/>
                </a:solidFill>
                <a:latin typeface="微软雅黑"/>
              </a:defRPr>
            </a:pPr>
            <a:r>
              <a:t>• 组织基础：2020年成立人工智能研究中心</a:t>
            </a:r>
          </a:p>
          <a:p>
            <a:pPr>
              <a:spcAft>
                <a:spcPts val="300"/>
              </a:spcAft>
              <a:defRPr sz="1600">
                <a:solidFill>
                  <a:srgbClr val="333333"/>
                </a:solidFill>
                <a:latin typeface="微软雅黑"/>
              </a:defRPr>
            </a:pPr>
            <a:r>
              <a:t>• 技术基础：2023年发布PetroAI（700亿参数）</a:t>
            </a:r>
          </a:p>
          <a:p>
            <a:pPr>
              <a:spcAft>
                <a:spcPts val="300"/>
              </a:spcAft>
              <a:defRPr sz="1600">
                <a:solidFill>
                  <a:srgbClr val="333333"/>
                </a:solidFill>
                <a:latin typeface="微软雅黑"/>
              </a:defRPr>
            </a:pPr>
            <a:r>
              <a:t>• 平台基础：承建集团公司"认知计算平台"</a:t>
            </a:r>
          </a:p>
          <a:p>
            <a:pPr>
              <a:spcAft>
                <a:spcPts val="300"/>
              </a:spcAft>
              <a:defRPr sz="1600">
                <a:solidFill>
                  <a:srgbClr val="333333"/>
                </a:solidFill>
                <a:latin typeface="微软雅黑"/>
              </a:defRPr>
            </a:pPr>
            <a:r>
              <a:t>• 数据基础：沉淀30万份文献、50TB数据</a:t>
            </a:r>
          </a:p>
          <a:p>
            <a:pPr>
              <a:spcAft>
                <a:spcPts val="400"/>
              </a:spcAft>
            </a:pPr>
          </a:p>
          <a:p>
            <a:pPr>
              <a:spcBef>
                <a:spcPts val="800"/>
              </a:spcBef>
              <a:spcAft>
                <a:spcPts val="300"/>
              </a:spcAft>
              <a:defRPr sz="1600" b="1">
                <a:solidFill>
                  <a:srgbClr val="FF6600"/>
                </a:solidFill>
                <a:latin typeface="微软雅黑"/>
              </a:defRPr>
            </a:pPr>
            <a:r>
              <a:t>【未来三年行动建议：分阶段推进】</a:t>
            </a:r>
          </a:p>
          <a:p>
            <a:pPr>
              <a:spcBef>
                <a:spcPts val="800"/>
              </a:spcBef>
              <a:spcAft>
                <a:spcPts val="300"/>
              </a:spcAft>
              <a:defRPr sz="1600" b="1">
                <a:solidFill>
                  <a:srgbClr val="FF6600"/>
                </a:solidFill>
                <a:latin typeface="微软雅黑"/>
              </a:defRPr>
            </a:pPr>
            <a:r>
              <a:t>▎第一阶段（2025年）：夯实地基</a:t>
            </a:r>
          </a:p>
          <a:p>
            <a:pPr>
              <a:spcAft>
                <a:spcPts val="300"/>
              </a:spcAft>
              <a:defRPr sz="1600">
                <a:solidFill>
                  <a:srgbClr val="333333"/>
                </a:solidFill>
                <a:latin typeface="微软雅黑"/>
              </a:defRPr>
            </a:pPr>
            <a:r>
              <a:t>• 数据治理：完成全院数据资产盘点与标准化治理</a:t>
            </a:r>
          </a:p>
          <a:p>
            <a:pPr>
              <a:spcAft>
                <a:spcPts val="300"/>
              </a:spcAft>
              <a:defRPr sz="1600">
                <a:solidFill>
                  <a:srgbClr val="333333"/>
                </a:solidFill>
                <a:latin typeface="微软雅黑"/>
              </a:defRPr>
            </a:pPr>
            <a:r>
              <a:t>• 算力建设：建设勘探院专属智能算力中心（目标：500P以上）</a:t>
            </a:r>
          </a:p>
          <a:p>
            <a:pPr>
              <a:spcAft>
                <a:spcPts val="300"/>
              </a:spcAft>
              <a:defRPr sz="1600">
                <a:solidFill>
                  <a:srgbClr val="333333"/>
                </a:solidFill>
                <a:latin typeface="微软雅黑"/>
              </a:defRPr>
            </a:pPr>
            <a:r>
              <a:t>• 试点启动：选择10个高价值AI场景试点</a:t>
            </a:r>
          </a:p>
          <a:p>
            <a:pPr>
              <a:spcAft>
                <a:spcPts val="400"/>
              </a:spcAft>
            </a:pPr>
          </a:p>
          <a:p>
            <a:pPr>
              <a:spcBef>
                <a:spcPts val="800"/>
              </a:spcBef>
              <a:spcAft>
                <a:spcPts val="300"/>
              </a:spcAft>
              <a:defRPr sz="1600" b="1">
                <a:solidFill>
                  <a:srgbClr val="FF6600"/>
                </a:solidFill>
                <a:latin typeface="微软雅黑"/>
              </a:defRPr>
            </a:pPr>
            <a:r>
              <a:t>▎第二阶段（2026-2027年）：规模推广</a:t>
            </a:r>
          </a:p>
          <a:p>
            <a:pPr>
              <a:spcAft>
                <a:spcPts val="300"/>
              </a:spcAft>
              <a:defRPr sz="1600">
                <a:solidFill>
                  <a:srgbClr val="333333"/>
                </a:solidFill>
                <a:latin typeface="微软雅黑"/>
              </a:defRPr>
            </a:pPr>
            <a:r>
              <a:t>• 业务覆盖：AI应用覆盖80%核心业务领域</a:t>
            </a:r>
          </a:p>
          <a:p>
            <a:pPr>
              <a:spcAft>
                <a:spcPts val="300"/>
              </a:spcAft>
              <a:defRPr sz="1600">
                <a:solidFill>
                  <a:srgbClr val="333333"/>
                </a:solidFill>
                <a:latin typeface="微软雅黑"/>
              </a:defRPr>
            </a:pPr>
            <a:r>
              <a:t>• 示范区建设：建成数字孪生气田示范区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0080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66666"/>
                </a:solidFill>
                <a:latin typeface="微软雅黑"/>
              </a:defRPr>
            </a:pPr>
            <a:r>
              <a:t>未来，因潮澎湃  Inspur in Future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2743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0066CC"/>
                </a:solidFill>
                <a:latin typeface="微软雅黑"/>
              </a:defRPr>
            </a:pPr>
            <a:r>
              <a:t>inspur 浪潮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110642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066CC"/>
                </a:solidFill>
                <a:latin typeface="微软雅黑"/>
              </a:defRPr>
            </a:pPr>
            <a:r>
              <a:t>勘探院的行动路径：三年规划 (2/2)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51560"/>
            <a:ext cx="110642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600">
                <a:solidFill>
                  <a:srgbClr val="333333"/>
                </a:solidFill>
                <a:latin typeface="微软雅黑"/>
              </a:defRPr>
            </a:pPr>
            <a:r>
              <a:t>• 人才队伍：累计培养100名AI+油气复合型人才</a:t>
            </a:r>
          </a:p>
          <a:p>
            <a:pPr>
              <a:spcAft>
                <a:spcPts val="400"/>
              </a:spcAft>
            </a:pPr>
          </a:p>
          <a:p>
            <a:pPr>
              <a:spcBef>
                <a:spcPts val="800"/>
              </a:spcBef>
              <a:spcAft>
                <a:spcPts val="300"/>
              </a:spcAft>
              <a:defRPr sz="1600" b="1">
                <a:solidFill>
                  <a:srgbClr val="FF6600"/>
                </a:solidFill>
                <a:latin typeface="微软雅黑"/>
              </a:defRPr>
            </a:pPr>
            <a:r>
              <a:t>▎第三阶段（2028-2030年）：智能引领</a:t>
            </a:r>
          </a:p>
          <a:p>
            <a:pPr>
              <a:spcAft>
                <a:spcPts val="300"/>
              </a:spcAft>
              <a:defRPr sz="1600">
                <a:solidFill>
                  <a:srgbClr val="333333"/>
                </a:solidFill>
                <a:latin typeface="微软雅黑"/>
              </a:defRPr>
            </a:pPr>
            <a:r>
              <a:t>• 全面智能化：实现勘探开发全流程智能化</a:t>
            </a:r>
          </a:p>
          <a:p>
            <a:pPr>
              <a:spcAft>
                <a:spcPts val="300"/>
              </a:spcAft>
              <a:defRPr sz="1600">
                <a:solidFill>
                  <a:srgbClr val="333333"/>
                </a:solidFill>
                <a:latin typeface="微软雅黑"/>
              </a:defRPr>
            </a:pPr>
            <a:r>
              <a:t>• 创新中心：建成国家级油气AI创新中心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0080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66666"/>
                </a:solidFill>
                <a:latin typeface="微软雅黑"/>
              </a:defRPr>
            </a:pPr>
            <a:r>
              <a:t>未来，因潮澎湃  Inspur in Future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2743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0066CC"/>
                </a:solidFill>
                <a:latin typeface="微软雅黑"/>
              </a:defRPr>
            </a:pPr>
            <a:r>
              <a:t>inspur 浪潮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286000"/>
            <a:ext cx="106984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333333"/>
                </a:solidFill>
                <a:latin typeface="微软雅黑"/>
              </a:defRPr>
            </a:pPr>
            <a:r>
              <a:t>拥抱 AI，赢得未来</a:t>
            </a:r>
          </a:p>
          <a:p>
            <a:pPr algn="l">
              <a:spcBef>
                <a:spcPts val="1600"/>
              </a:spcBef>
              <a:defRPr sz="2600">
                <a:solidFill>
                  <a:srgbClr val="666666"/>
                </a:solidFill>
                <a:latin typeface="微软雅黑"/>
              </a:defRPr>
            </a:pPr>
            <a:r>
              <a:t>以范式转移引领油气开采智能化新征程</a:t>
            </a:r>
          </a:p>
        </p:txBody>
      </p:sp>
      <p:sp>
        <p:nvSpPr>
          <p:cNvPr id="4" name="Isosceles Triangle 3"/>
          <p:cNvSpPr/>
          <p:nvPr/>
        </p:nvSpPr>
        <p:spPr>
          <a:xfrm rot="2700000">
            <a:off x="9601200" y="4114800"/>
            <a:ext cx="1828800" cy="1828800"/>
          </a:xfrm>
          <a:prstGeom prst="triangle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Isosceles Triangle 4"/>
          <p:cNvSpPr/>
          <p:nvPr/>
        </p:nvSpPr>
        <p:spPr>
          <a:xfrm rot="1800000">
            <a:off x="10972800" y="4754880"/>
            <a:ext cx="731520" cy="731520"/>
          </a:xfrm>
          <a:prstGeom prst="triangle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40080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66666"/>
                </a:solidFill>
                <a:latin typeface="微软雅黑"/>
              </a:defRPr>
            </a:pPr>
            <a:r>
              <a:t>未来，因潮澎湃  Inspur in Future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