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3366"/>
                </a:solidFill>
              </a:defRPr>
            </a:pPr>
            <a:r>
              <a:t>设备健康管理智能体（PHM Agent）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完整技术架构与落地监测方案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一、PHM智能体的核心理念与价值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【核心理念】从被动维修到预测性维护的范式转变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传统模式：事后维修（故障发生→停机维修）或定期保养（时间驱动）</a:t>
            </a:r>
          </a:p>
          <a:p>
            <a:pPr>
              <a:spcAft>
                <a:spcPts val="600"/>
              </a:spcAft>
              <a:defRPr sz="1600"/>
            </a:pPr>
            <a:r>
              <a:t>PHM模式：状态监测→故障诊断→寿命预测→精准维护（状态驱动）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【三级技术层级】</a:t>
            </a:r>
          </a:p>
          <a:p>
            <a:pPr>
              <a:spcAft>
                <a:spcPts val="600"/>
              </a:spcAft>
              <a:defRPr sz="1600"/>
            </a:pPr>
            <a:r>
              <a:t>Level 1 - 状态监测（Condition Monitoring）：实时采集振动、温度、压力等数据</a:t>
            </a:r>
          </a:p>
          <a:p>
            <a:pPr>
              <a:spcAft>
                <a:spcPts val="600"/>
              </a:spcAft>
              <a:defRPr sz="1600"/>
            </a:pPr>
            <a:r>
              <a:t>Level 2 - 故障诊断（Fault Diagnosis）：识别故障类型、定位故障部位、评估严重程度</a:t>
            </a:r>
          </a:p>
          <a:p>
            <a:pPr>
              <a:spcAft>
                <a:spcPts val="600"/>
              </a:spcAft>
              <a:defRPr sz="1600"/>
            </a:pPr>
            <a:r>
              <a:t>Level 3 - 故障预测（Prognostics）：预测剩余使用寿命（RUL），提前7-30天预警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【核心价值】</a:t>
            </a:r>
          </a:p>
          <a:p>
            <a:pPr>
              <a:spcAft>
                <a:spcPts val="600"/>
              </a:spcAft>
              <a:defRPr sz="1600"/>
            </a:pPr>
            <a:r>
              <a:t>• 非计划停机减少30-50%，设备故障率下降28%</a:t>
            </a:r>
          </a:p>
          <a:p>
            <a:pPr>
              <a:spcAft>
                <a:spcPts val="600"/>
              </a:spcAft>
              <a:defRPr sz="1600"/>
            </a:pPr>
            <a:r>
              <a:t>• 维护成本降低20-30%，备件库存优化15-25%</a:t>
            </a:r>
          </a:p>
          <a:p>
            <a:pPr>
              <a:spcAft>
                <a:spcPts val="600"/>
              </a:spcAft>
              <a:defRPr sz="1600"/>
            </a:pPr>
            <a:r>
              <a:t>• 设备使用寿命延长10-20%，安全生产事故减少40%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二、系统架构设计 - 五层体系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【第一层：感知层】数据采集与边缘计算</a:t>
            </a:r>
          </a:p>
          <a:p>
            <a:pPr>
              <a:spcAft>
                <a:spcPts val="600"/>
              </a:spcAft>
              <a:defRPr sz="1600"/>
            </a:pPr>
            <a:r>
              <a:t>• 传感器网络：振动（加速度/速度/位移）、温度、压力、电流、声发射</a:t>
            </a:r>
          </a:p>
          <a:p>
            <a:pPr>
              <a:spcAft>
                <a:spcPts val="600"/>
              </a:spcAft>
              <a:defRPr sz="1600"/>
            </a:pPr>
            <a:r>
              <a:t>• 边缘计算节点：本地数据预处理、特征提取、轻量级推理（响应时间&lt;2秒）</a:t>
            </a:r>
          </a:p>
          <a:p>
            <a:pPr>
              <a:spcAft>
                <a:spcPts val="600"/>
              </a:spcAft>
              <a:defRPr sz="1600"/>
            </a:pPr>
            <a:r>
              <a:t>• 数据协议：MQTT、Modbus、OPC UA，支持5G/工业以太网传输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【第二层：数据层】数据治理与存储</a:t>
            </a:r>
          </a:p>
          <a:p>
            <a:pPr>
              <a:spcAft>
                <a:spcPts val="600"/>
              </a:spcAft>
              <a:defRPr sz="1600"/>
            </a:pPr>
            <a:r>
              <a:t>• 时序数据库：InfluxDB/TDengine存储高频传感器数据</a:t>
            </a:r>
          </a:p>
          <a:p>
            <a:pPr>
              <a:spcAft>
                <a:spcPts val="600"/>
              </a:spcAft>
              <a:defRPr sz="1600"/>
            </a:pPr>
            <a:r>
              <a:t>• 关系数据库：MySQL/PostgreSQL存储设备台账、维修记录</a:t>
            </a:r>
          </a:p>
          <a:p>
            <a:pPr>
              <a:spcAft>
                <a:spcPts val="600"/>
              </a:spcAft>
              <a:defRPr sz="1600"/>
            </a:pPr>
            <a:r>
              <a:t>• 数据湖：原始数据、特征数据、标签数据分层存储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【第三层：算法层】AI模型与知识库</a:t>
            </a:r>
          </a:p>
          <a:p>
            <a:pPr>
              <a:spcAft>
                <a:spcPts val="600"/>
              </a:spcAft>
              <a:defRPr sz="1600"/>
            </a:pPr>
            <a:r>
              <a:t>• 机理模型：基于设备物理特性的失效模型（API 579标准）</a:t>
            </a:r>
          </a:p>
          <a:p>
            <a:pPr>
              <a:spcAft>
                <a:spcPts val="600"/>
              </a:spcAft>
              <a:defRPr sz="1600"/>
            </a:pPr>
            <a:r>
              <a:t>• 数据驱动模型：深度学习（LSTM/CNN/Transformer）、随机森林、XGBoost</a:t>
            </a:r>
          </a:p>
          <a:p>
            <a:pPr>
              <a:spcAft>
                <a:spcPts val="600"/>
              </a:spcAft>
              <a:defRPr sz="1600"/>
            </a:pPr>
            <a:r>
              <a:t>• 知识图谱：故障模式库、维修案例库、专家经验库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二、系统架构设计 - 应用与展示层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【第四层：应用层】智能体核心功能</a:t>
            </a:r>
          </a:p>
          <a:p>
            <a:pPr>
              <a:spcAft>
                <a:spcPts val="600"/>
              </a:spcAft>
              <a:defRPr sz="1600"/>
            </a:pPr>
            <a:r>
              <a:t>• 实时监测看板：设备健康指数（HI）、运行状态、告警信息</a:t>
            </a:r>
          </a:p>
          <a:p>
            <a:pPr>
              <a:spcAft>
                <a:spcPts val="600"/>
              </a:spcAft>
              <a:defRPr sz="1600"/>
            </a:pPr>
            <a:r>
              <a:t>• 故障诊断引擎：多源数据融合诊断、根因分析、维修建议生成</a:t>
            </a:r>
          </a:p>
          <a:p>
            <a:pPr>
              <a:spcAft>
                <a:spcPts val="600"/>
              </a:spcAft>
              <a:defRPr sz="1600"/>
            </a:pPr>
            <a:r>
              <a:t>• 预测性维护决策：RUL预测、维护窗口优化、备件需求预测</a:t>
            </a:r>
          </a:p>
          <a:p>
            <a:pPr>
              <a:spcAft>
                <a:spcPts val="600"/>
              </a:spcAft>
              <a:defRPr sz="1600"/>
            </a:pPr>
            <a:r>
              <a:t>• 维修工单管理：自动派单、进度跟踪、效果评估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【第五层：展示层】可视化与交互</a:t>
            </a:r>
          </a:p>
          <a:p>
            <a:pPr>
              <a:spcAft>
                <a:spcPts val="600"/>
              </a:spcAft>
              <a:defRPr sz="1600"/>
            </a:pPr>
            <a:r>
              <a:t>• 数字孪生大屏：3D设备模型、实时数据叠加、故障高亮显示</a:t>
            </a:r>
          </a:p>
          <a:p>
            <a:pPr>
              <a:spcAft>
                <a:spcPts val="600"/>
              </a:spcAft>
              <a:defRPr sz="1600"/>
            </a:pPr>
            <a:r>
              <a:t>• 移动端APP：告警推送、巡检打卡、现场拍照上传</a:t>
            </a:r>
          </a:p>
          <a:p>
            <a:pPr>
              <a:spcAft>
                <a:spcPts val="600"/>
              </a:spcAft>
              <a:defRPr sz="1600"/>
            </a:pPr>
            <a:r>
              <a:t>• 报表系统：设备健康报告、维护成本分析、KPI考核报表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三、关键技术 - 健康评估与故障诊断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【健康状态评估模型】</a:t>
            </a:r>
          </a:p>
          <a:p>
            <a:pPr>
              <a:spcAft>
                <a:spcPts val="600"/>
              </a:spcAft>
              <a:defRPr sz="1600"/>
            </a:pPr>
            <a:r>
              <a:t>• 健康指数（HI）计算：融合多参数的综合评分（0-100分）</a:t>
            </a:r>
          </a:p>
          <a:p>
            <a:pPr>
              <a:spcAft>
                <a:spcPts val="600"/>
              </a:spcAft>
              <a:defRPr sz="1600"/>
            </a:pPr>
            <a:r>
              <a:t>  - 绿色（85-100）：健康状态，正常维护</a:t>
            </a:r>
          </a:p>
          <a:p>
            <a:pPr>
              <a:spcAft>
                <a:spcPts val="600"/>
              </a:spcAft>
              <a:defRPr sz="1600"/>
            </a:pPr>
            <a:r>
              <a:t>  - 黄色（60-84）：注意状态，加强监测</a:t>
            </a:r>
          </a:p>
          <a:p>
            <a:pPr>
              <a:spcAft>
                <a:spcPts val="600"/>
              </a:spcAft>
              <a:defRPr sz="1600"/>
            </a:pPr>
            <a:r>
              <a:t>  - 红色（&lt;60）：危险状态，立即检修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【特征工程】</a:t>
            </a:r>
          </a:p>
          <a:p>
            <a:pPr>
              <a:spcAft>
                <a:spcPts val="600"/>
              </a:spcAft>
              <a:defRPr sz="1600"/>
            </a:pPr>
            <a:r>
              <a:t>• 时域特征：RMS、峰值、峰度、偏度、波形因数</a:t>
            </a:r>
          </a:p>
          <a:p>
            <a:pPr>
              <a:spcAft>
                <a:spcPts val="600"/>
              </a:spcAft>
              <a:defRPr sz="1600"/>
            </a:pPr>
            <a:r>
              <a:t>• 频域特征：频谱分析、包络分析、倒频谱分析</a:t>
            </a:r>
          </a:p>
          <a:p>
            <a:pPr>
              <a:spcAft>
                <a:spcPts val="600"/>
              </a:spcAft>
              <a:defRPr sz="1600"/>
            </a:pPr>
            <a:r>
              <a:t>• 时频特征：小波变换、EMD分解、希尔伯特-黄变换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【故障诊断算法】</a:t>
            </a:r>
          </a:p>
          <a:p>
            <a:pPr>
              <a:spcAft>
                <a:spcPts val="600"/>
              </a:spcAft>
              <a:defRPr sz="1600"/>
            </a:pPr>
            <a:r>
              <a:t>• 基于规则：专家知识编码（IF-THEN规则）</a:t>
            </a:r>
          </a:p>
          <a:p>
            <a:pPr>
              <a:spcAft>
                <a:spcPts val="600"/>
              </a:spcAft>
              <a:defRPr sz="1600"/>
            </a:pPr>
            <a:r>
              <a:t>• 机器学习：SVM、KNN、随机森林分类</a:t>
            </a:r>
          </a:p>
          <a:p>
            <a:pPr>
              <a:spcAft>
                <a:spcPts val="600"/>
              </a:spcAft>
              <a:defRPr sz="1600"/>
            </a:pPr>
            <a:r>
              <a:t>• 深度学习：CNN（图像诊断）、LSTM（时序诊断）、数字孪生仿真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三、关键技术 - 剩余寿命预测（RUL）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【RUL预测三种技术路线】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1. 基于物理机理模型</a:t>
            </a:r>
          </a:p>
          <a:p>
            <a:pPr>
              <a:spcAft>
                <a:spcPts val="600"/>
              </a:spcAft>
              <a:defRPr sz="1600"/>
            </a:pPr>
            <a:r>
              <a:t>   • 基于设备材料特性、应力分析、疲劳累积理论</a:t>
            </a:r>
          </a:p>
          <a:p>
            <a:pPr>
              <a:spcAft>
                <a:spcPts val="600"/>
              </a:spcAft>
              <a:defRPr sz="1600"/>
            </a:pPr>
            <a:r>
              <a:t>   • 适用：有明确失效物理机制的场景（如轴承疲劳、管道腐蚀）</a:t>
            </a:r>
          </a:p>
          <a:p>
            <a:pPr>
              <a:spcAft>
                <a:spcPts val="600"/>
              </a:spcAft>
              <a:defRPr sz="1600"/>
            </a:pPr>
            <a:r>
              <a:t>   • 公式：RUL = (失效阈值 - 当前状态) / 退化速率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2. 基于数据驱动模型</a:t>
            </a:r>
          </a:p>
          <a:p>
            <a:pPr>
              <a:spcAft>
                <a:spcPts val="600"/>
              </a:spcAft>
              <a:defRPr sz="1600"/>
            </a:pPr>
            <a:r>
              <a:t>   • 机器学习：PCA降维 + 距离度量（到故障状态的相似度）</a:t>
            </a:r>
          </a:p>
          <a:p>
            <a:pPr>
              <a:spcAft>
                <a:spcPts val="600"/>
              </a:spcAft>
              <a:defRPr sz="1600"/>
            </a:pPr>
            <a:r>
              <a:t>   • 深度学习：LSTM/GRU预测退化趋势、Transformer时序建模</a:t>
            </a:r>
          </a:p>
          <a:p>
            <a:pPr>
              <a:spcAft>
                <a:spcPts val="600"/>
              </a:spcAft>
              <a:defRPr sz="1600"/>
            </a:pPr>
            <a:r>
              <a:t>   • 适用：数据量大、机理复杂的场景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3. 混合模型（机理+数据）</a:t>
            </a:r>
          </a:p>
          <a:p>
            <a:pPr>
              <a:spcAft>
                <a:spcPts val="600"/>
              </a:spcAft>
              <a:defRPr sz="1600"/>
            </a:pPr>
            <a:r>
              <a:t>   • 物理模型提供先验知识，数据模型修正参数</a:t>
            </a:r>
          </a:p>
          <a:p>
            <a:pPr>
              <a:spcAft>
                <a:spcPts val="600"/>
              </a:spcAft>
              <a:defRPr sz="1600"/>
            </a:pPr>
            <a:r>
              <a:t>   • 数字孪生仿真：虚拟模型推演未来状态，蒙特卡洛模拟</a:t>
            </a:r>
          </a:p>
          <a:p>
            <a:pPr>
              <a:spcAft>
                <a:spcPts val="600"/>
              </a:spcAft>
              <a:defRPr sz="1600"/>
            </a:pPr>
            <a:r>
              <a:t>   • 优势：预测精度提升30%以上，可解释性强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四、落地实施路线图 - 四阶段推进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【第一阶段：基础搭建（1-3个月）】</a:t>
            </a:r>
          </a:p>
          <a:p>
            <a:pPr>
              <a:spcAft>
                <a:spcPts val="600"/>
              </a:spcAft>
              <a:defRPr sz="1600"/>
            </a:pPr>
            <a:r>
              <a:t>• 设备摸底：梳理关键设备清单（A/B/C分级），确定监测范围</a:t>
            </a:r>
          </a:p>
          <a:p>
            <a:pPr>
              <a:spcAft>
                <a:spcPts val="600"/>
              </a:spcAft>
              <a:defRPr sz="1600"/>
            </a:pPr>
            <a:r>
              <a:t>• 传感器部署：旋转设备（振动+温度）、静设备（压力+温度）、电气（电流+局放）</a:t>
            </a:r>
          </a:p>
          <a:p>
            <a:pPr>
              <a:spcAft>
                <a:spcPts val="600"/>
              </a:spcAft>
              <a:defRPr sz="1600"/>
            </a:pPr>
            <a:r>
              <a:t>• 平台搭建：数据中台、算法中台、可视化平台基础环境</a:t>
            </a:r>
          </a:p>
          <a:p>
            <a:pPr>
              <a:spcAft>
                <a:spcPts val="600"/>
              </a:spcAft>
              <a:defRPr sz="1600"/>
            </a:pPr>
            <a:r>
              <a:t>• 交付物：设备数字化档案、数据采集系统、基础看板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【第二阶段：模型构建（3-6个月）】</a:t>
            </a:r>
          </a:p>
          <a:p>
            <a:pPr>
              <a:spcAft>
                <a:spcPts val="600"/>
              </a:spcAft>
              <a:defRPr sz="1600"/>
            </a:pPr>
            <a:r>
              <a:t>• 数据积累：至少3-6个月历史数据，覆盖正常运行和各种故障模式</a:t>
            </a:r>
          </a:p>
          <a:p>
            <a:pPr>
              <a:spcAft>
                <a:spcPts val="600"/>
              </a:spcAft>
              <a:defRPr sz="1600"/>
            </a:pPr>
            <a:r>
              <a:t>• 特征工程：针对每种设备类型提取有效特征，建立特征库</a:t>
            </a:r>
          </a:p>
          <a:p>
            <a:pPr>
              <a:spcAft>
                <a:spcPts val="600"/>
              </a:spcAft>
              <a:defRPr sz="1600"/>
            </a:pPr>
            <a:r>
              <a:t>• 模型训练：故障诊断模型、健康评估模型、RUL预测模型</a:t>
            </a:r>
          </a:p>
          <a:p>
            <a:pPr>
              <a:spcAft>
                <a:spcPts val="600"/>
              </a:spcAft>
              <a:defRPr sz="1600"/>
            </a:pPr>
            <a:r>
              <a:t>• 知识沉淀：故障模式库（FMEA）、维修案例库、专家规则库</a:t>
            </a:r>
          </a:p>
          <a:p>
            <a:pPr>
              <a:spcAft>
                <a:spcPts val="600"/>
              </a:spcAft>
              <a:defRPr sz="1600"/>
            </a:pPr>
            <a:r>
              <a:t>• 交付物：算法模型库、诊断准确率&gt;85%、误报率&lt;10%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四、落地实施路线图 - 规模化与优化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【第三阶段：规模推广（6-12个月）】</a:t>
            </a:r>
          </a:p>
          <a:p>
            <a:pPr>
              <a:spcAft>
                <a:spcPts val="600"/>
              </a:spcAft>
              <a:defRPr sz="1600"/>
            </a:pPr>
            <a:r>
              <a:t>• 全面覆盖：推广至所有关键设备（A级设备100%覆盖，B级设备50%覆盖）</a:t>
            </a:r>
          </a:p>
          <a:p>
            <a:pPr>
              <a:spcAft>
                <a:spcPts val="600"/>
              </a:spcAft>
              <a:defRPr sz="1600"/>
            </a:pPr>
            <a:r>
              <a:t>• 系统集成：与ERP/EAM/PCS系统对接，实现工单自动流转</a:t>
            </a:r>
          </a:p>
          <a:p>
            <a:pPr>
              <a:spcAft>
                <a:spcPts val="600"/>
              </a:spcAft>
              <a:defRPr sz="1600"/>
            </a:pPr>
            <a:r>
              <a:t>• 流程再造：建立预测性维护SOP，修订设备管理制度</a:t>
            </a:r>
          </a:p>
          <a:p>
            <a:pPr>
              <a:spcAft>
                <a:spcPts val="600"/>
              </a:spcAft>
              <a:defRPr sz="1600"/>
            </a:pPr>
            <a:r>
              <a:t>• 人员培训：培养设备健康管理师、算法工程师、数据分析师</a:t>
            </a:r>
          </a:p>
          <a:p>
            <a:pPr>
              <a:spcAft>
                <a:spcPts val="600"/>
              </a:spcAft>
              <a:defRPr sz="1600"/>
            </a:pPr>
            <a:r>
              <a:t>• 交付物：完整PHM系统、配套管理制度、培训认证体系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【第四阶段：持续优化（12个月+）】</a:t>
            </a:r>
          </a:p>
          <a:p>
            <a:pPr>
              <a:spcAft>
                <a:spcPts val="600"/>
              </a:spcAft>
              <a:defRPr sz="1600"/>
            </a:pPr>
            <a:r>
              <a:t>• 模型迭代：基于新数据持续优化模型，准确率提升至90%+</a:t>
            </a:r>
          </a:p>
          <a:p>
            <a:pPr>
              <a:spcAft>
                <a:spcPts val="600"/>
              </a:spcAft>
              <a:defRPr sz="1600"/>
            </a:pPr>
            <a:r>
              <a:t>• 知识积累：专家经验持续沉淀，故障模式库扩充</a:t>
            </a:r>
          </a:p>
          <a:p>
            <a:pPr>
              <a:spcAft>
                <a:spcPts val="600"/>
              </a:spcAft>
              <a:defRPr sz="1600"/>
            </a:pPr>
            <a:r>
              <a:t>• 智能决策：AI自主决策维护策略，人机协同优化</a:t>
            </a:r>
          </a:p>
          <a:p>
            <a:pPr>
              <a:spcAft>
                <a:spcPts val="600"/>
              </a:spcAft>
              <a:defRPr sz="1600"/>
            </a:pPr>
            <a:r>
              <a:t>• 生态扩展：备件供应商协同、第三方维修资源接入</a:t>
            </a:r>
          </a:p>
          <a:p>
            <a:pPr>
              <a:spcAft>
                <a:spcPts val="600"/>
              </a:spcAft>
              <a:defRPr sz="1600"/>
            </a:pPr>
            <a:r>
              <a:t>• 交付物：自适应进化系统、行业标杆案例、标准规范输出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五、监测指标体系 - 技术性能指标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【模型性能指标】</a:t>
            </a:r>
          </a:p>
          <a:p>
            <a:pPr>
              <a:spcAft>
                <a:spcPts val="600"/>
              </a:spcAft>
              <a:defRPr sz="1600"/>
            </a:pPr>
            <a:r>
              <a:t>• 故障诊断准确率：正确识别故障类型的比例（目标&gt;90%）</a:t>
            </a:r>
          </a:p>
          <a:p>
            <a:pPr>
              <a:spcAft>
                <a:spcPts val="600"/>
              </a:spcAft>
              <a:defRPr sz="1600"/>
            </a:pPr>
            <a:r>
              <a:t>• 故障预测准确率：RUL预测值与实际值误差&lt;±15%</a:t>
            </a:r>
          </a:p>
          <a:p>
            <a:pPr>
              <a:spcAft>
                <a:spcPts val="600"/>
              </a:spcAft>
              <a:defRPr sz="1600"/>
            </a:pPr>
            <a:r>
              <a:t>• 误报率：健康设备被误判为故障的比例（目标&lt;5%）</a:t>
            </a:r>
          </a:p>
          <a:p>
            <a:pPr>
              <a:spcAft>
                <a:spcPts val="600"/>
              </a:spcAft>
              <a:defRPr sz="1600"/>
            </a:pPr>
            <a:r>
              <a:t>• 漏报率：故障设备未被识别的比例（目标&lt;2%，关键设备&lt;0.5%）</a:t>
            </a:r>
          </a:p>
          <a:p>
            <a:pPr>
              <a:spcAft>
                <a:spcPts val="600"/>
              </a:spcAft>
              <a:defRPr sz="1600"/>
            </a:pPr>
            <a:r>
              <a:t>• 提前预警时间：故障发生前提前预警的时间（目标&gt;7天，理想&gt;14天）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【系统性能指标】</a:t>
            </a:r>
          </a:p>
          <a:p>
            <a:pPr>
              <a:spcAft>
                <a:spcPts val="600"/>
              </a:spcAft>
              <a:defRPr sz="1600"/>
            </a:pPr>
            <a:r>
              <a:t>• 数据采集完整率：应采集数据与实际采集数据的比值（目标&gt;99%）</a:t>
            </a:r>
          </a:p>
          <a:p>
            <a:pPr>
              <a:spcAft>
                <a:spcPts val="600"/>
              </a:spcAft>
              <a:defRPr sz="1600"/>
            </a:pPr>
            <a:r>
              <a:t>• 数据传输延迟：从采集到入库的时间（目标&lt;5秒）</a:t>
            </a:r>
          </a:p>
          <a:p>
            <a:pPr>
              <a:spcAft>
                <a:spcPts val="600"/>
              </a:spcAft>
              <a:defRPr sz="1600"/>
            </a:pPr>
            <a:r>
              <a:t>• 算法响应时间：从数据输入到结果输出的时间（目标&lt;2秒）</a:t>
            </a:r>
          </a:p>
          <a:p>
            <a:pPr>
              <a:spcAft>
                <a:spcPts val="600"/>
              </a:spcAft>
              <a:defRPr sz="1600"/>
            </a:pPr>
            <a:r>
              <a:t>• 系统可用性：系统正常运行时间占比（目标&gt;99.9%）</a:t>
            </a:r>
          </a:p>
          <a:p>
            <a:pPr>
              <a:spcAft>
                <a:spcPts val="600"/>
              </a:spcAft>
              <a:defRPr sz="1600"/>
            </a:pPr>
            <a:r>
              <a:t>• 并发处理能力：同时监测设备数量（目标&gt;1000台）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五、监测指标体系 - 业务价值指标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【设备可靠性指标】</a:t>
            </a:r>
          </a:p>
          <a:p>
            <a:pPr>
              <a:spcAft>
                <a:spcPts val="600"/>
              </a:spcAft>
              <a:defRPr sz="1600"/>
            </a:pPr>
            <a:r>
              <a:t>• MTBF（平均无故障时间）：两次故障间的平均运行时间（提升&gt;20%）</a:t>
            </a:r>
          </a:p>
          <a:p>
            <a:pPr>
              <a:spcAft>
                <a:spcPts val="600"/>
              </a:spcAft>
              <a:defRPr sz="1600"/>
            </a:pPr>
            <a:r>
              <a:t>• MTTR（平均修复时间）：故障发生到修复完成的平均时间（降低&gt;30%）</a:t>
            </a:r>
          </a:p>
          <a:p>
            <a:pPr>
              <a:spcAft>
                <a:spcPts val="600"/>
              </a:spcAft>
              <a:defRPr sz="1600"/>
            </a:pPr>
            <a:r>
              <a:t>• OEE（设备综合效率）：时间利用率×性能利用率×良品率（提升&gt;10%）</a:t>
            </a:r>
          </a:p>
          <a:p>
            <a:pPr>
              <a:spcAft>
                <a:spcPts val="600"/>
              </a:spcAft>
              <a:defRPr sz="1600"/>
            </a:pPr>
            <a:r>
              <a:t>• 设备完好率：完好设备数/总设备数（目标&gt;98%）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【经济效益指标】</a:t>
            </a:r>
          </a:p>
          <a:p>
            <a:pPr>
              <a:spcAft>
                <a:spcPts val="600"/>
              </a:spcAft>
              <a:defRPr sz="1600"/>
            </a:pPr>
            <a:r>
              <a:t>• 非计划停机次数：月度/年度非计划停机次数（减少&gt;40%）</a:t>
            </a:r>
          </a:p>
          <a:p>
            <a:pPr>
              <a:spcAft>
                <a:spcPts val="600"/>
              </a:spcAft>
              <a:defRPr sz="1600"/>
            </a:pPr>
            <a:r>
              <a:t>• 维护成本降低率：(原成本-现成本)/原成本（目标&gt;20%）</a:t>
            </a:r>
          </a:p>
          <a:p>
            <a:pPr>
              <a:spcAft>
                <a:spcPts val="600"/>
              </a:spcAft>
              <a:defRPr sz="1600"/>
            </a:pPr>
            <a:r>
              <a:t>• 备件库存周转率：备件使用效率指标（提升&gt;25%）</a:t>
            </a:r>
          </a:p>
          <a:p>
            <a:pPr>
              <a:spcAft>
                <a:spcPts val="600"/>
              </a:spcAft>
              <a:defRPr sz="1600"/>
            </a:pPr>
            <a:r>
              <a:t>• 设备使用寿命延长率：实际寿命/设计寿命（提升&gt;15%）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【安全环保指标】</a:t>
            </a:r>
          </a:p>
          <a:p>
            <a:pPr>
              <a:spcAft>
                <a:spcPts val="600"/>
              </a:spcAft>
              <a:defRPr sz="1600"/>
            </a:pPr>
            <a:r>
              <a:t>• 安全事故减少率：设备相关事故数量同比（减少&gt;50%）</a:t>
            </a:r>
          </a:p>
          <a:p>
            <a:pPr>
              <a:spcAft>
                <a:spcPts val="600"/>
              </a:spcAft>
              <a:defRPr sz="1600"/>
            </a:pPr>
            <a:r>
              <a:t>• 环保排放达标率：设备运行环保指标达标情况（目标100%）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六、典型应用场景 - 旋转机械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【场景：离心泵/压缩机/电机健康管理】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监测参数：</a:t>
            </a:r>
          </a:p>
          <a:p>
            <a:pPr>
              <a:spcAft>
                <a:spcPts val="600"/>
              </a:spcAft>
              <a:defRPr sz="1600"/>
            </a:pPr>
            <a:r>
              <a:t>• 振动：轴承座振动（加速度/速度/位移）、轴振动</a:t>
            </a:r>
          </a:p>
          <a:p>
            <a:pPr>
              <a:spcAft>
                <a:spcPts val="600"/>
              </a:spcAft>
              <a:defRPr sz="1600"/>
            </a:pPr>
            <a:r>
              <a:t>• 温度：轴承温度、绕组温度、润滑油温度</a:t>
            </a:r>
          </a:p>
          <a:p>
            <a:pPr>
              <a:spcAft>
                <a:spcPts val="600"/>
              </a:spcAft>
              <a:defRPr sz="1600"/>
            </a:pPr>
            <a:r>
              <a:t>• 电气：电流、电压、功率、局放（高压电机）</a:t>
            </a:r>
          </a:p>
          <a:p>
            <a:pPr>
              <a:spcAft>
                <a:spcPts val="600"/>
              </a:spcAft>
              <a:defRPr sz="1600"/>
            </a:pPr>
            <a:r>
              <a:t>• 工艺：进出口压力、流量、效率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诊断故障类型：</a:t>
            </a:r>
          </a:p>
          <a:p>
            <a:pPr>
              <a:spcAft>
                <a:spcPts val="600"/>
              </a:spcAft>
              <a:defRPr sz="1600"/>
            </a:pPr>
            <a:r>
              <a:t>• 机械故障：轴承磨损/松动、转子不平衡/不对中、叶轮磨损</a:t>
            </a:r>
          </a:p>
          <a:p>
            <a:pPr>
              <a:spcAft>
                <a:spcPts val="600"/>
              </a:spcAft>
              <a:defRPr sz="1600"/>
            </a:pPr>
            <a:r>
              <a:t>• 电气故障：绕组绝缘下降、转子断条、电源不平衡</a:t>
            </a:r>
          </a:p>
          <a:p>
            <a:pPr>
              <a:spcAft>
                <a:spcPts val="600"/>
              </a:spcAft>
              <a:defRPr sz="1600"/>
            </a:pPr>
            <a:r>
              <a:t>• 工艺故障：气蚀、喘振、堵塞、泄漏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预测性维护策略：</a:t>
            </a:r>
          </a:p>
          <a:p>
            <a:pPr>
              <a:spcAft>
                <a:spcPts val="600"/>
              </a:spcAft>
              <a:defRPr sz="1600"/>
            </a:pPr>
            <a:r>
              <a:t>• 轴承剩余寿命&lt;30天→安排更换备件→预约检修窗口</a:t>
            </a:r>
          </a:p>
          <a:p>
            <a:pPr>
              <a:spcAft>
                <a:spcPts val="600"/>
              </a:spcAft>
              <a:defRPr sz="1600"/>
            </a:pPr>
            <a:r>
              <a:t>• 振动超标+温度上升→立即降负荷运行→48小时内检修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六、典型应用场景 - 静设备与管网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【场景：压力容器/管道/储罐健康管理】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监测参数：</a:t>
            </a:r>
          </a:p>
          <a:p>
            <a:pPr>
              <a:spcAft>
                <a:spcPts val="600"/>
              </a:spcAft>
              <a:defRPr sz="1600"/>
            </a:pPr>
            <a:r>
              <a:t>• 腐蚀监测：壁厚监测（超声导波）、腐蚀探针、介质成分分析</a:t>
            </a:r>
          </a:p>
          <a:p>
            <a:pPr>
              <a:spcAft>
                <a:spcPts val="600"/>
              </a:spcAft>
              <a:defRPr sz="1600"/>
            </a:pPr>
            <a:r>
              <a:t>• 泄漏监测：压力下降速率、声学泄漏检测、气体浓度监测</a:t>
            </a:r>
          </a:p>
          <a:p>
            <a:pPr>
              <a:spcAft>
                <a:spcPts val="600"/>
              </a:spcAft>
              <a:defRPr sz="1600"/>
            </a:pPr>
            <a:r>
              <a:t>• 结构监测：应变片、位移传感器、基础沉降监测</a:t>
            </a:r>
          </a:p>
          <a:p>
            <a:pPr>
              <a:spcAft>
                <a:spcPts val="600"/>
              </a:spcAft>
              <a:defRPr sz="1600"/>
            </a:pPr>
            <a:r>
              <a:t>• 涂层监测：涂层电阻、阴极保护电位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诊断故障类型：</a:t>
            </a:r>
          </a:p>
          <a:p>
            <a:pPr>
              <a:spcAft>
                <a:spcPts val="600"/>
              </a:spcAft>
              <a:defRPr sz="1600"/>
            </a:pPr>
            <a:r>
              <a:t>• 腐蚀减薄：均匀腐蚀、点蚀、应力腐蚀开裂</a:t>
            </a:r>
          </a:p>
          <a:p>
            <a:pPr>
              <a:spcAft>
                <a:spcPts val="600"/>
              </a:spcAft>
              <a:defRPr sz="1600"/>
            </a:pPr>
            <a:r>
              <a:t>• 裂纹扩展：疲劳裂纹、腐蚀裂纹、焊接缺陷扩展</a:t>
            </a:r>
          </a:p>
          <a:p>
            <a:pPr>
              <a:spcAft>
                <a:spcPts val="600"/>
              </a:spcAft>
              <a:defRPr sz="1600"/>
            </a:pPr>
            <a:r>
              <a:t>• 密封失效：法兰泄漏、阀门内漏、密封圈老化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预测性维护策略：</a:t>
            </a:r>
          </a:p>
          <a:p>
            <a:pPr>
              <a:spcAft>
                <a:spcPts val="600"/>
              </a:spcAft>
              <a:defRPr sz="1600"/>
            </a:pPr>
            <a:r>
              <a:t>• 剩余壁厚&lt;设计厚度80%→安排检验/更换</a:t>
            </a:r>
          </a:p>
          <a:p>
            <a:pPr>
              <a:spcAft>
                <a:spcPts val="600"/>
              </a:spcAft>
              <a:defRPr sz="1600"/>
            </a:pPr>
            <a:r>
              <a:t>• 裂纹扩展速率&gt;临界值→立即停用→返修或更换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七、组织保障与成功要素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【组织架构】</a:t>
            </a:r>
          </a:p>
          <a:p>
            <a:pPr>
              <a:spcAft>
                <a:spcPts val="600"/>
              </a:spcAft>
              <a:defRPr sz="1600"/>
            </a:pPr>
            <a:r>
              <a:t>• 领导小组：设备副总牵头，IT、设备、生产部门参与</a:t>
            </a:r>
          </a:p>
          <a:p>
            <a:pPr>
              <a:spcAft>
                <a:spcPts val="600"/>
              </a:spcAft>
              <a:defRPr sz="1600"/>
            </a:pPr>
            <a:r>
              <a:t>• 专业团队：设备健康管理师、数据工程师、算法工程师、业务专家</a:t>
            </a:r>
          </a:p>
          <a:p>
            <a:pPr>
              <a:spcAft>
                <a:spcPts val="600"/>
              </a:spcAft>
              <a:defRPr sz="1600"/>
            </a:pPr>
            <a:r>
              <a:t>• 岗位职责：明确数据采集、模型维护、诊断决策、维修执行分工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【制度保障】</a:t>
            </a:r>
          </a:p>
          <a:p>
            <a:pPr>
              <a:spcAft>
                <a:spcPts val="600"/>
              </a:spcAft>
              <a:defRPr sz="1600"/>
            </a:pPr>
            <a:r>
              <a:t>• 设备分级管理制度：A/B/C级设备差异化监测策略</a:t>
            </a:r>
          </a:p>
          <a:p>
            <a:pPr>
              <a:spcAft>
                <a:spcPts val="600"/>
              </a:spcAft>
              <a:defRPr sz="1600"/>
            </a:pPr>
            <a:r>
              <a:t>• 预测性维护SOP：状态判定标准、维护决策流程、应急响应机制</a:t>
            </a:r>
          </a:p>
          <a:p>
            <a:pPr>
              <a:spcAft>
                <a:spcPts val="600"/>
              </a:spcAft>
              <a:defRPr sz="1600"/>
            </a:pPr>
            <a:r>
              <a:t>• 绩效考核机制：MTBF/OEE等指标纳入部门KPI</a:t>
            </a:r>
          </a:p>
          <a:p>
            <a:pPr>
              <a:spcAft>
                <a:spcPts val="600"/>
              </a:spcAft>
              <a:defRPr sz="1600"/>
            </a:pPr>
            <a:r>
              <a:t>• 知识管理制度：故障案例积累、专家经验沉淀、模型持续优化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【成功要素】</a:t>
            </a:r>
          </a:p>
          <a:p>
            <a:pPr>
              <a:spcAft>
                <a:spcPts val="600"/>
              </a:spcAft>
              <a:defRPr sz="1600"/>
            </a:pPr>
            <a:r>
              <a:t>• 领导重视：一把手工程，资源充分保障</a:t>
            </a:r>
          </a:p>
          <a:p>
            <a:pPr>
              <a:spcAft>
                <a:spcPts val="600"/>
              </a:spcAft>
              <a:defRPr sz="1600"/>
            </a:pPr>
            <a:r>
              <a:t>• 数据质量：传感器安装规范、数据校准准确、传输稳定可靠</a:t>
            </a:r>
          </a:p>
          <a:p>
            <a:pPr>
              <a:spcAft>
                <a:spcPts val="600"/>
              </a:spcAft>
              <a:defRPr sz="1600"/>
            </a:pPr>
            <a:r>
              <a:t>• 业务融合：与现有EAM/ERP系统深度集成，不增加额外工作量</a:t>
            </a:r>
          </a:p>
          <a:p>
            <a:pPr>
              <a:spcAft>
                <a:spcPts val="600"/>
              </a:spcAft>
              <a:defRPr sz="1600"/>
            </a:pPr>
            <a:r>
              <a:t>• 持续运营：专人负责模型维护，定期评估优化效果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八、风险管控与应对策略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【技术风险】</a:t>
            </a:r>
          </a:p>
          <a:p>
            <a:pPr>
              <a:spcAft>
                <a:spcPts val="600"/>
              </a:spcAft>
              <a:defRPr sz="1600"/>
            </a:pPr>
            <a:r>
              <a:t>• 模型准确率不足→初期采用'AI+人工'双确认机制，逐步提升</a:t>
            </a:r>
          </a:p>
          <a:p>
            <a:pPr>
              <a:spcAft>
                <a:spcPts val="600"/>
              </a:spcAft>
              <a:defRPr sz="1600"/>
            </a:pPr>
            <a:r>
              <a:t>• 传感器数据质量差→建立数据质量评估体系，定期校准维护</a:t>
            </a:r>
          </a:p>
          <a:p>
            <a:pPr>
              <a:spcAft>
                <a:spcPts val="600"/>
              </a:spcAft>
              <a:defRPr sz="1600"/>
            </a:pPr>
            <a:r>
              <a:t>• 系统稳定性差→采用高可用架构，本地化部署+云端备份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【管理风险】</a:t>
            </a:r>
          </a:p>
          <a:p>
            <a:pPr>
              <a:spcAft>
                <a:spcPts val="600"/>
              </a:spcAft>
              <a:defRPr sz="1600"/>
            </a:pPr>
            <a:r>
              <a:t>• 人员抵触→从'辅助决策'切入，证明价值后逐步推广</a:t>
            </a:r>
          </a:p>
          <a:p>
            <a:pPr>
              <a:spcAft>
                <a:spcPts val="600"/>
              </a:spcAft>
              <a:defRPr sz="1600"/>
            </a:pPr>
            <a:r>
              <a:t>• 流程不配套→同步修订设备管理制度，与现有体系融合</a:t>
            </a:r>
          </a:p>
          <a:p>
            <a:pPr>
              <a:spcAft>
                <a:spcPts val="600"/>
              </a:spcAft>
              <a:defRPr sz="1600"/>
            </a:pPr>
            <a:r>
              <a:t>• 责任不清→明确'系统建议、人工决策'的责任边界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【数据安全风险】</a:t>
            </a:r>
          </a:p>
          <a:p>
            <a:pPr>
              <a:spcAft>
                <a:spcPts val="600"/>
              </a:spcAft>
              <a:defRPr sz="1600"/>
            </a:pPr>
            <a:r>
              <a:t>• 敏感数据泄露→私有化部署，核心数据不出厂</a:t>
            </a:r>
          </a:p>
          <a:p>
            <a:pPr>
              <a:spcAft>
                <a:spcPts val="600"/>
              </a:spcAft>
              <a:defRPr sz="1600"/>
            </a:pPr>
            <a:r>
              <a:t>• 系统被攻击→等保2.0合规，网络安全防护</a:t>
            </a:r>
          </a:p>
          <a:p>
            <a:pPr>
              <a:spcAft>
                <a:spcPts val="600"/>
              </a:spcAft>
              <a:defRPr sz="1600"/>
            </a:pPr>
            <a:r>
              <a:t>• 数据丢失→多副本备份，定期灾备演练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总结：PHM智能体实施路径图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【短期目标（6个月）】打好基础，见成效</a:t>
            </a:r>
          </a:p>
          <a:p>
            <a:pPr>
              <a:spcAft>
                <a:spcPts val="600"/>
              </a:spcAft>
              <a:defRPr sz="1600"/>
            </a:pPr>
            <a:r>
              <a:t>✓ 关键设备传感器全覆盖，数据采集系统稳定运行</a:t>
            </a:r>
          </a:p>
          <a:p>
            <a:pPr>
              <a:spcAft>
                <a:spcPts val="600"/>
              </a:spcAft>
              <a:defRPr sz="1600"/>
            </a:pPr>
            <a:r>
              <a:t>✓ 故障诊断准确率&gt;85%，初步实现预测性维护</a:t>
            </a:r>
          </a:p>
          <a:p>
            <a:pPr>
              <a:spcAft>
                <a:spcPts val="600"/>
              </a:spcAft>
              <a:defRPr sz="1600"/>
            </a:pPr>
            <a:r>
              <a:t>✓ 非计划停机减少20%，维护成本降低10%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【中期目标（12个月）】全面推广，建体系</a:t>
            </a:r>
          </a:p>
          <a:p>
            <a:pPr>
              <a:spcAft>
                <a:spcPts val="600"/>
              </a:spcAft>
              <a:defRPr sz="1600"/>
            </a:pPr>
            <a:r>
              <a:t>✓ 全部A级设备、50%B级设备接入PHM系统</a:t>
            </a:r>
          </a:p>
          <a:p>
            <a:pPr>
              <a:spcAft>
                <a:spcPts val="600"/>
              </a:spcAft>
              <a:defRPr sz="1600"/>
            </a:pPr>
            <a:r>
              <a:t>✓ 故障诊断准确率&gt;90%，RUL预测误差&lt;20%</a:t>
            </a:r>
          </a:p>
          <a:p>
            <a:pPr>
              <a:spcAft>
                <a:spcPts val="600"/>
              </a:spcAft>
              <a:defRPr sz="1600"/>
            </a:pPr>
            <a:r>
              <a:t>✓ 非计划停机减少40%，维护成本降低25%</a:t>
            </a:r>
          </a:p>
          <a:p>
            <a:pPr>
              <a:spcAft>
                <a:spcPts val="600"/>
              </a:spcAft>
              <a:defRPr sz="1600"/>
            </a:pPr>
            <a:r>
              <a:t>✓ 形成完整的设备健康管理制度和团队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【长期目标（24个月）】智能决策，成标杆</a:t>
            </a:r>
          </a:p>
          <a:p>
            <a:pPr>
              <a:spcAft>
                <a:spcPts val="600"/>
              </a:spcAft>
              <a:defRPr sz="1600"/>
            </a:pPr>
            <a:r>
              <a:t>✓ 全部关键设备实现智能健康管理</a:t>
            </a:r>
          </a:p>
          <a:p>
            <a:pPr>
              <a:spcAft>
                <a:spcPts val="600"/>
              </a:spcAft>
              <a:defRPr sz="1600"/>
            </a:pPr>
            <a:r>
              <a:t>✓ AI自主决策维护策略，人机协同优化</a:t>
            </a:r>
          </a:p>
          <a:p>
            <a:pPr>
              <a:spcAft>
                <a:spcPts val="600"/>
              </a:spcAft>
              <a:defRPr sz="1600"/>
            </a:pPr>
            <a:r>
              <a:t>✓ 成为行业标杆，输出标准规范和最佳实践</a:t>
            </a:r>
          </a:p>
          <a:p>
            <a:pPr>
              <a:spcAft>
                <a:spcPts val="600"/>
              </a:spcAft>
              <a:defRPr sz="1600"/>
            </a:pPr>
            <a:r>
              <a:t>✓ 设备可靠性达到行业领先水平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设备健康管理智能体</a:t>
            </a:r>
          </a:p>
          <a:p>
            <a:pPr algn="ctr">
              <a:defRPr sz="2600">
                <a:solidFill>
                  <a:srgbClr val="666666"/>
                </a:solidFill>
              </a:defRPr>
            </a:pPr>
            <a:r>
              <a:t>让设备会说话、能预测、自维护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